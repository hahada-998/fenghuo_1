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C8FF017-F794-4D57-9EA7-2557E1D4EEF8}">
          <p14:sldIdLst>
            <p14:sldId id="256"/>
            <p14:sldId id="257"/>
            <p14:sldId id="258"/>
            <p14:sldId id="259"/>
          </p14:sldIdLst>
        </p14:section>
        <p14:section name="无标题节" id="{D6E02F76-F080-44D2-974F-12883CD54D11}">
          <p14:sldIdLst>
            <p14:sldId id="260"/>
            <p14:sldId id="26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mingjie 02665" initials="z0" lastIdx="1" clrIdx="0">
    <p:extLst>
      <p:ext uri="{19B8F6BF-5375-455C-9EA6-DF929625EA0E}">
        <p15:presenceInfo xmlns:p15="http://schemas.microsoft.com/office/powerpoint/2012/main" userId="S-1-5-21-3302766295-1699897919-2204723271-4418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17" autoAdjust="0"/>
  </p:normalViewPr>
  <p:slideViewPr>
    <p:cSldViewPr snapToGrid="0">
      <p:cViewPr>
        <p:scale>
          <a:sx n="300" d="100"/>
          <a:sy n="300" d="100"/>
        </p:scale>
        <p:origin x="-792" y="-30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357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93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3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35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8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42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71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9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54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6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0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1F915-D866-4BB7-9AE2-EB4F6F58E9CD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E7D80-93B5-4928-8077-D9F201251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software_package/Microsoft%20VS%20Code/Microsoft%20VS%20Code/resources/app/out/vs/code/electron-sandbox/workbench/workbench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105" y="123827"/>
            <a:ext cx="11894820" cy="400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1" dirty="0"/>
              <a:t>一级模块：</a:t>
            </a:r>
            <a:r>
              <a:rPr lang="en-US" altLang="zh-CN" sz="1401" dirty="0"/>
              <a:t>BM_H13DSP_M_TOP</a:t>
            </a:r>
          </a:p>
          <a:p>
            <a:endParaRPr lang="en-US" altLang="zh-CN" sz="1200" dirty="0"/>
          </a:p>
          <a:p>
            <a:r>
              <a:rPr lang="zh-CN" altLang="en-US" sz="1200" dirty="0"/>
              <a:t>二级模块：时钟</a:t>
            </a:r>
            <a:r>
              <a:rPr lang="en-US" altLang="zh-CN" sz="1200" dirty="0"/>
              <a:t>/</a:t>
            </a:r>
            <a:r>
              <a:rPr lang="zh-CN" altLang="en-US" sz="1200" dirty="0"/>
              <a:t>复位（时钟</a:t>
            </a:r>
            <a:r>
              <a:rPr lang="en-US" altLang="zh-CN" sz="1200" dirty="0"/>
              <a:t>i_clk_25M_cpld</a:t>
            </a:r>
            <a:r>
              <a:rPr lang="zh-CN" altLang="en-US" sz="1200" dirty="0"/>
              <a:t>，复位</a:t>
            </a:r>
            <a:r>
              <a:rPr lang="en-US" altLang="zh-CN" sz="1200" dirty="0"/>
              <a:t>i_PWRDG_P3V3_STBY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二级模块：分频定时模块 </a:t>
            </a:r>
            <a:r>
              <a:rPr lang="en-US" altLang="zh-CN" sz="1200" dirty="0" err="1"/>
              <a:t>timer_gen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r>
              <a:rPr lang="en-US" altLang="zh-CN" sz="1200" dirty="0"/>
              <a:t>  </a:t>
            </a:r>
          </a:p>
          <a:p>
            <a:r>
              <a:rPr lang="zh-CN" altLang="en-US" sz="1200" dirty="0"/>
              <a:t>二级模块：生成多个同步时钟使能信号</a:t>
            </a:r>
            <a:r>
              <a:rPr lang="en-US" altLang="zh-CN" sz="1200" dirty="0" err="1"/>
              <a:t>clkDivTree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         三级模块：</a:t>
            </a:r>
            <a:r>
              <a:rPr lang="en-US" altLang="zh-CN" sz="1200" dirty="0" err="1"/>
              <a:t>clkDiv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二级模块：信号去抖</a:t>
            </a:r>
            <a:r>
              <a:rPr lang="en-US" altLang="zh-CN" sz="1200" dirty="0"/>
              <a:t>/</a:t>
            </a:r>
            <a:r>
              <a:rPr lang="zh-CN" altLang="en-US" sz="1200" dirty="0"/>
              <a:t>异步复位同步释放 </a:t>
            </a:r>
            <a:r>
              <a:rPr lang="en-US" altLang="zh-CN" sz="1200" dirty="0"/>
              <a:t>PGM_DEBOUNCE</a:t>
            </a:r>
          </a:p>
          <a:p>
            <a:endParaRPr lang="en-US" altLang="zh-CN" sz="1200" dirty="0"/>
          </a:p>
          <a:p>
            <a:r>
              <a:rPr lang="zh-CN" altLang="en-US" sz="1200" dirty="0"/>
              <a:t>二级模块：主</a:t>
            </a:r>
            <a:r>
              <a:rPr lang="en-US" altLang="zh-CN" sz="1200" dirty="0"/>
              <a:t>/</a:t>
            </a:r>
            <a:r>
              <a:rPr lang="zh-CN" altLang="en-US" sz="1200" dirty="0"/>
              <a:t>从电源管理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二级模块：</a:t>
            </a:r>
            <a:r>
              <a:rPr lang="en-US" altLang="zh-CN" sz="1200" dirty="0"/>
              <a:t>IIC</a:t>
            </a:r>
            <a:r>
              <a:rPr lang="zh-CN" altLang="en-US" sz="1200" dirty="0"/>
              <a:t>桥接模块，连接 </a:t>
            </a:r>
            <a:r>
              <a:rPr lang="en-US" altLang="zh-CN" sz="1200" dirty="0"/>
              <a:t>Wishbone </a:t>
            </a:r>
            <a:r>
              <a:rPr lang="zh-CN" altLang="en-US" sz="1200" dirty="0"/>
              <a:t>总线和 </a:t>
            </a:r>
            <a:r>
              <a:rPr lang="en-US" altLang="zh-CN" sz="1200" dirty="0"/>
              <a:t>I2C </a:t>
            </a:r>
            <a:r>
              <a:rPr lang="zh-CN" altLang="en-US" sz="1200" dirty="0"/>
              <a:t>接口，支持通过 </a:t>
            </a:r>
            <a:r>
              <a:rPr lang="en-US" altLang="zh-CN" sz="1200" dirty="0"/>
              <a:t>I2C </a:t>
            </a:r>
            <a:r>
              <a:rPr lang="zh-CN" altLang="en-US" sz="1200" dirty="0"/>
              <a:t>协议与外部设备通信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二级模块：串并转换</a:t>
            </a:r>
            <a:r>
              <a:rPr lang="en-US" altLang="zh-CN" sz="1200" dirty="0" err="1" smtClean="0"/>
              <a:t>pvt_gpi</a:t>
            </a:r>
            <a:endParaRPr lang="en-US" altLang="zh-CN" sz="1200" dirty="0" smtClean="0"/>
          </a:p>
          <a:p>
            <a:endParaRPr lang="en-US" altLang="zh-CN" sz="1200" dirty="0"/>
          </a:p>
          <a:p>
            <a:r>
              <a:rPr lang="zh-CN" altLang="en-US" sz="1200" dirty="0"/>
              <a:t>二</a:t>
            </a:r>
            <a:r>
              <a:rPr lang="zh-CN" altLang="en-US" sz="1200" dirty="0" smtClean="0"/>
              <a:t>级模块：</a:t>
            </a:r>
            <a:r>
              <a:rPr lang="zh-CN" altLang="en-US" sz="1200" dirty="0"/>
              <a:t>处理 </a:t>
            </a:r>
            <a:r>
              <a:rPr lang="en-US" altLang="zh-CN" sz="1200" dirty="0" err="1"/>
              <a:t>eSPI</a:t>
            </a:r>
            <a:r>
              <a:rPr lang="en-US" altLang="zh-CN" sz="1200" dirty="0"/>
              <a:t> </a:t>
            </a:r>
            <a:r>
              <a:rPr lang="zh-CN" altLang="en-US" sz="1200" dirty="0"/>
              <a:t>数据的接收、解析、状态管理以及数据</a:t>
            </a:r>
            <a:r>
              <a:rPr lang="zh-CN" altLang="en-US" sz="1200" dirty="0" smtClean="0"/>
              <a:t>发送，</a:t>
            </a:r>
            <a:r>
              <a:rPr lang="en-US" altLang="zh-CN" sz="1200" dirty="0" err="1" smtClean="0"/>
              <a:t>espi_link</a:t>
            </a:r>
            <a:endParaRPr lang="en-US" altLang="zh-CN" sz="1200" dirty="0"/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7707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677" y="95163"/>
            <a:ext cx="121253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200" dirty="0"/>
          </a:p>
          <a:p>
            <a:r>
              <a:rPr lang="zh-CN" altLang="en-US" sz="1200" dirty="0"/>
              <a:t>二级模块：</a:t>
            </a:r>
            <a:r>
              <a:rPr lang="en-US" altLang="zh-CN" sz="1200" dirty="0" err="1"/>
              <a:t>timer_gen</a:t>
            </a:r>
            <a:r>
              <a:rPr lang="zh-CN" altLang="en-US" sz="1200" dirty="0"/>
              <a:t>分频定时模块，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timer_gen_50mhz.v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/>
          </a:p>
          <a:p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是一个基于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MHz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时钟信号的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模块，用于生成各种时间间隔信号和不同频率的时钟信号。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模块接口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主时钟信号，频率为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MHz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reset: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异步复位信号，用于初始化模块状态。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、时间信号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t40ns, t80ns, t160ns, t1us, t2us, ..., t1s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：这些是不同时间间隔的脉冲信号，表示特定时间间隔的触发。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、时钟信号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clk_XX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clk_1hz, clk_2p5hz, clk_4hz, clk_16khz, clk_6m25, clk_16m6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：这些是不同频率的时钟信号，具有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占空比。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、特殊时钟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(clk_16m6):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通过两个寄存器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(clk_16m6_q1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clk_16m6_q2)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分别在时钟的上升沿和下降沿计数生成，频率为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16.6 MHz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0.75Mhz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特殊频率时钟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(clk_2p5hz)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clk_2p5hz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的周期为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Hz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），无法直接通过简单计数生成。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t64ms_tick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和一个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位移位寄存器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(t200ms_tmr)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实现，每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t64ms_tick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触发一次翻转。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349" y="229284"/>
            <a:ext cx="1198245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二级模块：信号去抖模块 </a:t>
            </a:r>
            <a:r>
              <a:rPr lang="en-US" altLang="zh-CN" sz="1200" dirty="0"/>
              <a:t>PGM_DEBOUNCE</a:t>
            </a:r>
            <a:r>
              <a:rPr lang="zh-CN" altLang="en-US" sz="1200" dirty="0"/>
              <a:t>，它的主要功能是对输入信号进行去抖处理，过滤掉短时间的毛刺信号，确保输出信号稳定。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模块接口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输入</a:t>
            </a:r>
          </a:p>
          <a:p>
            <a:r>
              <a:rPr lang="en-US" altLang="zh-CN" sz="1200" dirty="0" err="1"/>
              <a:t>clk</a:t>
            </a:r>
            <a:r>
              <a:rPr lang="en-US" altLang="zh-CN" sz="1200" dirty="0"/>
              <a:t>: </a:t>
            </a:r>
            <a:r>
              <a:rPr lang="zh-CN" altLang="en-US" sz="1200" dirty="0"/>
              <a:t>时钟信号，用于驱动模块逻辑。</a:t>
            </a:r>
          </a:p>
          <a:p>
            <a:r>
              <a:rPr lang="en-US" altLang="zh-CN" sz="1200" dirty="0" err="1"/>
              <a:t>rst</a:t>
            </a:r>
            <a:r>
              <a:rPr lang="en-US" altLang="zh-CN" sz="1200" dirty="0"/>
              <a:t>: </a:t>
            </a:r>
            <a:r>
              <a:rPr lang="zh-CN" altLang="en-US" sz="1200" dirty="0"/>
              <a:t>异步复位信号，用于初始化模块状态。</a:t>
            </a:r>
          </a:p>
          <a:p>
            <a:r>
              <a:rPr lang="en-US" altLang="zh-CN" sz="1200" dirty="0"/>
              <a:t>din: </a:t>
            </a:r>
            <a:r>
              <a:rPr lang="zh-CN" altLang="en-US" sz="1200" dirty="0"/>
              <a:t>输入信号向量，包含多个需要去抖的信号。</a:t>
            </a:r>
          </a:p>
          <a:p>
            <a:r>
              <a:rPr lang="en-US" altLang="zh-CN" sz="1200" dirty="0" err="1"/>
              <a:t>timer_tick</a:t>
            </a:r>
            <a:r>
              <a:rPr lang="en-US" altLang="zh-CN" sz="1200" dirty="0"/>
              <a:t>: </a:t>
            </a:r>
            <a:r>
              <a:rPr lang="zh-CN" altLang="en-US" sz="1200" dirty="0"/>
              <a:t>计时信号，用于控制计数器的更新。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输出</a:t>
            </a:r>
          </a:p>
          <a:p>
            <a:r>
              <a:rPr lang="en-US" altLang="zh-CN" sz="1200" dirty="0" err="1"/>
              <a:t>dout</a:t>
            </a:r>
            <a:r>
              <a:rPr lang="en-US" altLang="zh-CN" sz="1200" dirty="0"/>
              <a:t>: </a:t>
            </a:r>
            <a:r>
              <a:rPr lang="zh-CN" altLang="en-US" sz="1200" dirty="0"/>
              <a:t>去抖后的输出信号向量，与 </a:t>
            </a:r>
            <a:r>
              <a:rPr lang="en-US" altLang="zh-CN" sz="1200" dirty="0"/>
              <a:t>din </a:t>
            </a:r>
            <a:r>
              <a:rPr lang="zh-CN" altLang="en-US" sz="1200" dirty="0"/>
              <a:t>一一对应。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模块参数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dirty="0"/>
              <a:t>SIGCNT: </a:t>
            </a:r>
            <a:r>
              <a:rPr lang="zh-CN" altLang="en-US" sz="1200" dirty="0"/>
              <a:t>输入信号的数量（默认值为 </a:t>
            </a:r>
            <a:r>
              <a:rPr lang="en-US" altLang="zh-CN" sz="1200" dirty="0"/>
              <a:t>5</a:t>
            </a:r>
            <a:r>
              <a:rPr lang="zh-CN" altLang="en-US" sz="1200" dirty="0"/>
              <a:t>）。</a:t>
            </a:r>
          </a:p>
          <a:p>
            <a:r>
              <a:rPr lang="en-US" altLang="zh-CN" sz="1200" dirty="0"/>
              <a:t>NBITS: </a:t>
            </a:r>
            <a:r>
              <a:rPr lang="zh-CN" altLang="en-US" sz="1200" dirty="0"/>
              <a:t>计数器的位宽（默认值为 </a:t>
            </a:r>
            <a:r>
              <a:rPr lang="en-US" altLang="zh-CN" sz="1200" dirty="0"/>
              <a:t>3</a:t>
            </a:r>
            <a:r>
              <a:rPr lang="zh-CN" altLang="en-US" sz="1200" dirty="0"/>
              <a:t>）。</a:t>
            </a:r>
          </a:p>
          <a:p>
            <a:r>
              <a:rPr lang="en-US" altLang="zh-CN" sz="1200" dirty="0"/>
              <a:t>NDELAY: </a:t>
            </a:r>
            <a:r>
              <a:rPr lang="zh-CN" altLang="en-US" sz="1200" dirty="0"/>
              <a:t>去抖延迟的时钟周期数，默认值为 </a:t>
            </a:r>
            <a:r>
              <a:rPr lang="en-US" altLang="zh-CN" sz="1200" dirty="0"/>
              <a:t>2**NBITS</a:t>
            </a:r>
            <a:r>
              <a:rPr lang="zh-CN" altLang="en-US" sz="1200" dirty="0"/>
              <a:t>，默认</a:t>
            </a:r>
            <a:r>
              <a:rPr lang="en-US" altLang="zh-CN" sz="1200" dirty="0"/>
              <a:t>8</a:t>
            </a:r>
            <a:r>
              <a:rPr lang="zh-CN" altLang="en-US" sz="1200" dirty="0"/>
              <a:t>个周期。</a:t>
            </a:r>
          </a:p>
          <a:p>
            <a:r>
              <a:rPr lang="en-US" altLang="zh-CN" sz="1200" dirty="0"/>
              <a:t>ENABLE: </a:t>
            </a:r>
            <a:r>
              <a:rPr lang="zh-CN" altLang="en-US" sz="1200" dirty="0"/>
              <a:t>是否启用去抖功能（默认值为 </a:t>
            </a:r>
            <a:r>
              <a:rPr lang="en-US" altLang="zh-CN" sz="1200" dirty="0"/>
              <a:t>1</a:t>
            </a:r>
            <a:r>
              <a:rPr lang="zh-CN" altLang="en-US" sz="1200" dirty="0"/>
              <a:t>）。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41269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675" y="105461"/>
            <a:ext cx="119824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二级模块：主</a:t>
            </a:r>
            <a:r>
              <a:rPr lang="en-US" altLang="zh-CN" sz="1200" dirty="0"/>
              <a:t>/</a:t>
            </a:r>
            <a:r>
              <a:rPr lang="zh-CN" altLang="en-US" sz="1200" dirty="0"/>
              <a:t>从电源管理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模块功能：电源管理模块负责协调系统的电源时序操作。它通过监控电源状态信号、故障信号以及时序信号，控制电源的开启、关闭和故障恢复过程。</a:t>
            </a:r>
          </a:p>
          <a:p>
            <a:endParaRPr lang="en-US" altLang="zh-CN" sz="1200" dirty="0"/>
          </a:p>
          <a:p>
            <a:r>
              <a:rPr lang="zh-CN" altLang="en-US" sz="1200" dirty="0"/>
              <a:t>模块接口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输入</a:t>
            </a:r>
          </a:p>
          <a:p>
            <a:r>
              <a:rPr lang="en-US" altLang="zh-CN" sz="1200" dirty="0" err="1"/>
              <a:t>clk</a:t>
            </a:r>
            <a:r>
              <a:rPr lang="en-US" altLang="zh-CN" sz="1200" dirty="0"/>
              <a:t>: </a:t>
            </a:r>
            <a:r>
              <a:rPr lang="zh-CN" altLang="en-US" sz="1200" dirty="0"/>
              <a:t>时钟信号，用于驱动模块逻辑。</a:t>
            </a:r>
          </a:p>
          <a:p>
            <a:r>
              <a:rPr lang="en-US" altLang="zh-CN" sz="1200" dirty="0" err="1"/>
              <a:t>rst</a:t>
            </a:r>
            <a:r>
              <a:rPr lang="en-US" altLang="zh-CN" sz="1200" dirty="0"/>
              <a:t>: </a:t>
            </a:r>
            <a:r>
              <a:rPr lang="zh-CN" altLang="en-US" sz="1200" dirty="0"/>
              <a:t>异步复位信号，用于初始化模块状态。</a:t>
            </a:r>
          </a:p>
          <a:p>
            <a:r>
              <a:rPr lang="en-US" altLang="zh-CN" sz="1200" dirty="0"/>
              <a:t>din: </a:t>
            </a:r>
            <a:r>
              <a:rPr lang="zh-CN" altLang="en-US" sz="1200" dirty="0"/>
              <a:t>输入信号向量，包含多个需要去抖的信号。</a:t>
            </a:r>
          </a:p>
          <a:p>
            <a:r>
              <a:rPr lang="en-US" altLang="zh-CN" sz="1200" dirty="0" err="1"/>
              <a:t>timer_tick</a:t>
            </a:r>
            <a:r>
              <a:rPr lang="en-US" altLang="zh-CN" sz="1200" dirty="0"/>
              <a:t>: </a:t>
            </a:r>
            <a:r>
              <a:rPr lang="zh-CN" altLang="en-US" sz="1200" dirty="0"/>
              <a:t>计时信号，用于控制计数器的更新。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输出</a:t>
            </a:r>
          </a:p>
          <a:p>
            <a:r>
              <a:rPr lang="en-US" altLang="zh-CN" sz="1200" dirty="0" err="1"/>
              <a:t>dout</a:t>
            </a:r>
            <a:r>
              <a:rPr lang="en-US" altLang="zh-CN" sz="1200" dirty="0"/>
              <a:t>: </a:t>
            </a:r>
            <a:r>
              <a:rPr lang="zh-CN" altLang="en-US" sz="1200" dirty="0"/>
              <a:t>去抖后的输出信号向量，与 </a:t>
            </a:r>
            <a:r>
              <a:rPr lang="en-US" altLang="zh-CN" sz="1200" dirty="0"/>
              <a:t>din </a:t>
            </a:r>
            <a:r>
              <a:rPr lang="zh-CN" altLang="en-US" sz="1200" dirty="0"/>
              <a:t>一一对应。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模块参数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dirty="0"/>
              <a:t>SIGCNT: </a:t>
            </a:r>
            <a:r>
              <a:rPr lang="zh-CN" altLang="en-US" sz="1200" dirty="0"/>
              <a:t>输入信号的数量（默认值为 </a:t>
            </a:r>
            <a:r>
              <a:rPr lang="en-US" altLang="zh-CN" sz="1200" dirty="0"/>
              <a:t>5</a:t>
            </a:r>
            <a:r>
              <a:rPr lang="zh-CN" altLang="en-US" sz="1200" dirty="0"/>
              <a:t>）。</a:t>
            </a:r>
          </a:p>
          <a:p>
            <a:r>
              <a:rPr lang="en-US" altLang="zh-CN" sz="1200" dirty="0"/>
              <a:t>NBITS: </a:t>
            </a:r>
            <a:r>
              <a:rPr lang="zh-CN" altLang="en-US" sz="1200" dirty="0"/>
              <a:t>计数器的位宽（默认值为 </a:t>
            </a:r>
            <a:r>
              <a:rPr lang="en-US" altLang="zh-CN" sz="1200" dirty="0"/>
              <a:t>3</a:t>
            </a:r>
            <a:r>
              <a:rPr lang="zh-CN" altLang="en-US" sz="1200" dirty="0"/>
              <a:t>）。</a:t>
            </a:r>
          </a:p>
          <a:p>
            <a:r>
              <a:rPr lang="en-US" altLang="zh-CN" sz="1200" dirty="0"/>
              <a:t>NDELAY: </a:t>
            </a:r>
            <a:r>
              <a:rPr lang="zh-CN" altLang="en-US" sz="1200" dirty="0"/>
              <a:t>去抖延迟的时钟周期数，默认值为 </a:t>
            </a:r>
            <a:r>
              <a:rPr lang="en-US" altLang="zh-CN" sz="1200" dirty="0"/>
              <a:t>2**NBITS</a:t>
            </a:r>
            <a:r>
              <a:rPr lang="zh-CN" altLang="en-US" sz="1200" dirty="0"/>
              <a:t>，默认</a:t>
            </a:r>
            <a:r>
              <a:rPr lang="en-US" altLang="zh-CN" sz="1200" dirty="0"/>
              <a:t>8</a:t>
            </a:r>
            <a:r>
              <a:rPr lang="zh-CN" altLang="en-US" sz="1200" dirty="0"/>
              <a:t>个周期。</a:t>
            </a:r>
          </a:p>
          <a:p>
            <a:r>
              <a:rPr lang="en-US" altLang="zh-CN" sz="1200" dirty="0"/>
              <a:t>ENABLE: </a:t>
            </a:r>
            <a:r>
              <a:rPr lang="zh-CN" altLang="en-US" sz="1200" dirty="0"/>
              <a:t>是否启用去抖功能（默认值为 </a:t>
            </a:r>
            <a:r>
              <a:rPr lang="en-US" altLang="zh-CN" sz="1200" dirty="0"/>
              <a:t>1</a:t>
            </a:r>
            <a:r>
              <a:rPr lang="zh-CN" altLang="en-US" sz="1200" dirty="0"/>
              <a:t>）。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68670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936175" y="2552256"/>
            <a:ext cx="0" cy="1603025"/>
          </a:xfrm>
          <a:prstGeom prst="line">
            <a:avLst/>
          </a:prstGeom>
          <a:ln w="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11901" y="2396562"/>
            <a:ext cx="297656" cy="1538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IDLE</a:t>
            </a:r>
            <a:endParaRPr lang="zh-CN" altLang="en-US" sz="400" dirty="0"/>
          </a:p>
        </p:txBody>
      </p:sp>
      <p:sp>
        <p:nvSpPr>
          <p:cNvPr id="10" name="文本框 9"/>
          <p:cNvSpPr txBox="1"/>
          <p:nvPr/>
        </p:nvSpPr>
        <p:spPr>
          <a:xfrm>
            <a:off x="1078711" y="2393155"/>
            <a:ext cx="402431" cy="1538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OPCODE</a:t>
            </a:r>
            <a:endParaRPr lang="zh-CN" altLang="en-US" sz="400" dirty="0"/>
          </a:p>
        </p:txBody>
      </p:sp>
      <p:sp>
        <p:nvSpPr>
          <p:cNvPr id="11" name="弧形 10"/>
          <p:cNvSpPr/>
          <p:nvPr/>
        </p:nvSpPr>
        <p:spPr>
          <a:xfrm>
            <a:off x="398860" y="1672383"/>
            <a:ext cx="369093" cy="86378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2" name="弧形 11"/>
          <p:cNvSpPr/>
          <p:nvPr/>
        </p:nvSpPr>
        <p:spPr>
          <a:xfrm>
            <a:off x="660798" y="1967658"/>
            <a:ext cx="369093" cy="86378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3" name="弧形 12"/>
          <p:cNvSpPr/>
          <p:nvPr/>
        </p:nvSpPr>
        <p:spPr>
          <a:xfrm>
            <a:off x="770334" y="2338759"/>
            <a:ext cx="317048" cy="86378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8" name="文本框 17"/>
          <p:cNvSpPr txBox="1"/>
          <p:nvPr/>
        </p:nvSpPr>
        <p:spPr>
          <a:xfrm>
            <a:off x="1631160" y="1900982"/>
            <a:ext cx="68818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GET_CONFIGURATION</a:t>
            </a:r>
            <a:endParaRPr lang="en-US" altLang="zh-CN" sz="400" dirty="0"/>
          </a:p>
          <a:p>
            <a:r>
              <a:rPr lang="en-US" altLang="zh-CN" sz="400" dirty="0" smtClean="0"/>
              <a:t>SET_CONFIGURATION</a:t>
            </a:r>
          </a:p>
          <a:p>
            <a:r>
              <a:rPr lang="en-US" altLang="zh-CN" sz="400" dirty="0" smtClean="0"/>
              <a:t>PUT_IOWR_SHORT</a:t>
            </a:r>
          </a:p>
          <a:p>
            <a:r>
              <a:rPr lang="en-US" altLang="zh-CN" sz="400" dirty="0" smtClean="0"/>
              <a:t>PUT_IORD_SHORT</a:t>
            </a:r>
          </a:p>
          <a:p>
            <a:r>
              <a:rPr lang="en-US" altLang="zh-CN" sz="400" dirty="0" smtClean="0"/>
              <a:t>GET_STATUS</a:t>
            </a:r>
            <a:endParaRPr lang="en-US" altLang="zh-CN" sz="400" dirty="0"/>
          </a:p>
          <a:p>
            <a:r>
              <a:rPr lang="en-US" altLang="zh-CN" sz="400" dirty="0" smtClean="0"/>
              <a:t>GET_VWIRE</a:t>
            </a:r>
            <a:endParaRPr lang="en-US" altLang="zh-CN" sz="400" dirty="0"/>
          </a:p>
          <a:p>
            <a:r>
              <a:rPr lang="en-US" altLang="zh-CN" sz="400" dirty="0" smtClean="0"/>
              <a:t>PUT_VWIRE</a:t>
            </a:r>
            <a:endParaRPr lang="en-US" altLang="zh-CN" sz="400" dirty="0"/>
          </a:p>
          <a:p>
            <a:r>
              <a:rPr lang="en-US" altLang="zh-CN" sz="400" dirty="0" smtClean="0"/>
              <a:t>PUT_OOB</a:t>
            </a:r>
            <a:endParaRPr lang="en-US" altLang="zh-CN" sz="400" dirty="0"/>
          </a:p>
          <a:p>
            <a:r>
              <a:rPr lang="en-US" altLang="zh-CN" sz="400" dirty="0" smtClean="0"/>
              <a:t>GET_OOB</a:t>
            </a:r>
            <a:endParaRPr lang="en-US" altLang="zh-CN" sz="400" dirty="0"/>
          </a:p>
        </p:txBody>
      </p:sp>
      <p:sp>
        <p:nvSpPr>
          <p:cNvPr id="19" name="弧形 18"/>
          <p:cNvSpPr/>
          <p:nvPr/>
        </p:nvSpPr>
        <p:spPr>
          <a:xfrm>
            <a:off x="1265980" y="2331616"/>
            <a:ext cx="369093" cy="86378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20" name="矩形 19"/>
          <p:cNvSpPr/>
          <p:nvPr/>
        </p:nvSpPr>
        <p:spPr>
          <a:xfrm>
            <a:off x="583406" y="2547043"/>
            <a:ext cx="8548582" cy="16082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cxnSp>
        <p:nvCxnSpPr>
          <p:cNvPr id="21" name="直接连接符 20"/>
          <p:cNvCxnSpPr/>
          <p:nvPr/>
        </p:nvCxnSpPr>
        <p:spPr>
          <a:xfrm>
            <a:off x="1605306" y="2549424"/>
            <a:ext cx="0" cy="1605857"/>
          </a:xfrm>
          <a:prstGeom prst="line">
            <a:avLst/>
          </a:prstGeom>
          <a:ln w="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868299" y="2571544"/>
            <a:ext cx="779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" dirty="0" smtClean="0"/>
              <a:t>1</a:t>
            </a:r>
            <a:r>
              <a:rPr lang="zh-CN" altLang="en-US" sz="300" dirty="0" smtClean="0"/>
              <a:t>、解复位＋片选进</a:t>
            </a:r>
            <a:r>
              <a:rPr lang="en-US" altLang="zh-CN" sz="300" dirty="0" smtClean="0"/>
              <a:t>OPCODE</a:t>
            </a:r>
            <a:r>
              <a:rPr lang="zh-CN" altLang="en-US" sz="300" dirty="0" smtClean="0"/>
              <a:t>状态</a:t>
            </a:r>
            <a:endParaRPr lang="en-US" altLang="zh-CN" sz="300" dirty="0" smtClean="0"/>
          </a:p>
          <a:p>
            <a:endParaRPr lang="en-US" altLang="zh-CN" sz="300" dirty="0" smtClean="0"/>
          </a:p>
          <a:p>
            <a:r>
              <a:rPr lang="en-US" altLang="zh-CN" sz="300" dirty="0"/>
              <a:t>2</a:t>
            </a:r>
            <a:r>
              <a:rPr lang="zh-CN" altLang="en-US" sz="300" dirty="0" smtClean="0"/>
              <a:t>、</a:t>
            </a:r>
            <a:r>
              <a:rPr lang="en-US" altLang="zh-CN" sz="300" dirty="0" err="1" smtClean="0"/>
              <a:t>clk_cnt</a:t>
            </a:r>
            <a:r>
              <a:rPr lang="zh-CN" altLang="en-US" sz="300" dirty="0" smtClean="0">
                <a:solidFill>
                  <a:srgbClr val="FF0000"/>
                </a:solidFill>
              </a:rPr>
              <a:t>计</a:t>
            </a:r>
            <a:r>
              <a:rPr lang="en-US" altLang="zh-CN" sz="300" dirty="0" smtClean="0">
                <a:solidFill>
                  <a:srgbClr val="FF0000"/>
                </a:solidFill>
              </a:rPr>
              <a:t>8</a:t>
            </a:r>
            <a:r>
              <a:rPr lang="zh-CN" altLang="en-US" sz="300" dirty="0" smtClean="0">
                <a:solidFill>
                  <a:srgbClr val="FF0000"/>
                </a:solidFill>
              </a:rPr>
              <a:t>拍</a:t>
            </a:r>
            <a:r>
              <a:rPr lang="zh-CN" altLang="en-US" sz="300" dirty="0" smtClean="0"/>
              <a:t>产生</a:t>
            </a:r>
            <a:r>
              <a:rPr lang="en-US" altLang="zh-CN" sz="300" dirty="0" err="1" smtClean="0"/>
              <a:t>st_trans_en</a:t>
            </a:r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/>
              <a:t>3</a:t>
            </a:r>
            <a:r>
              <a:rPr lang="zh-CN" altLang="en-US" sz="300" dirty="0" smtClean="0"/>
              <a:t>、缓存字节产生</a:t>
            </a:r>
            <a:r>
              <a:rPr lang="en-US" altLang="zh-CN" sz="300" dirty="0" err="1" smtClean="0"/>
              <a:t>data_byte_in</a:t>
            </a:r>
            <a:endParaRPr lang="en-US" altLang="zh-CN" sz="300" dirty="0" smtClean="0"/>
          </a:p>
          <a:p>
            <a:endParaRPr lang="en-US" altLang="zh-CN" sz="300" dirty="0"/>
          </a:p>
        </p:txBody>
      </p:sp>
      <p:sp>
        <p:nvSpPr>
          <p:cNvPr id="26" name="矩形 25"/>
          <p:cNvSpPr/>
          <p:nvPr/>
        </p:nvSpPr>
        <p:spPr>
          <a:xfrm>
            <a:off x="534966" y="2569838"/>
            <a:ext cx="57265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" dirty="0" smtClean="0"/>
              <a:t>1</a:t>
            </a:r>
            <a:r>
              <a:rPr lang="zh-CN" altLang="en-US" sz="300" dirty="0" smtClean="0"/>
              <a:t>、复位</a:t>
            </a:r>
            <a:r>
              <a:rPr lang="en-US" altLang="zh-CN" sz="300" dirty="0" smtClean="0"/>
              <a:t>ESPI_RST</a:t>
            </a:r>
          </a:p>
          <a:p>
            <a:r>
              <a:rPr lang="en-US" altLang="zh-CN" sz="300" dirty="0" smtClean="0"/>
              <a:t>2</a:t>
            </a:r>
            <a:r>
              <a:rPr lang="zh-CN" altLang="en-US" sz="300" dirty="0" smtClean="0"/>
              <a:t>、片选无效</a:t>
            </a:r>
            <a:endParaRPr lang="en-US" altLang="zh-CN" sz="300" dirty="0" smtClean="0"/>
          </a:p>
          <a:p>
            <a:r>
              <a:rPr lang="en-US" altLang="zh-CN" sz="300" dirty="0" smtClean="0"/>
              <a:t>ESPI_CS1</a:t>
            </a:r>
            <a:endParaRPr lang="en-US" altLang="zh-CN" sz="300" dirty="0"/>
          </a:p>
        </p:txBody>
      </p:sp>
      <p:sp>
        <p:nvSpPr>
          <p:cNvPr id="28" name="文本框 27"/>
          <p:cNvSpPr txBox="1"/>
          <p:nvPr/>
        </p:nvSpPr>
        <p:spPr>
          <a:xfrm>
            <a:off x="2497848" y="1961191"/>
            <a:ext cx="55967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ADDR_RD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CRC_1</a:t>
            </a:r>
            <a:r>
              <a:rPr lang="zh-CN" altLang="en-US" sz="400" dirty="0" smtClean="0"/>
              <a:t>（</a:t>
            </a:r>
            <a:r>
              <a:rPr lang="zh-CN" altLang="en-US" sz="400" dirty="0" smtClean="0">
                <a:solidFill>
                  <a:srgbClr val="FF0000"/>
                </a:solidFill>
              </a:rPr>
              <a:t>循环</a:t>
            </a:r>
            <a:r>
              <a:rPr lang="en-US" altLang="zh-CN" sz="400" dirty="0" smtClean="0">
                <a:solidFill>
                  <a:srgbClr val="FF0000"/>
                </a:solidFill>
              </a:rPr>
              <a:t>1</a:t>
            </a:r>
            <a:r>
              <a:rPr lang="zh-CN" altLang="en-US" sz="400" dirty="0" smtClean="0"/>
              <a:t>）</a:t>
            </a:r>
            <a:endParaRPr lang="en-US" altLang="zh-CN" sz="400" dirty="0" smtClean="0"/>
          </a:p>
          <a:p>
            <a:endParaRPr lang="en-US" altLang="zh-CN" sz="400" dirty="0" smtClean="0"/>
          </a:p>
          <a:p>
            <a:r>
              <a:rPr lang="en-US" altLang="zh-CN" sz="400" dirty="0" smtClean="0"/>
              <a:t>VMIRE_LENGTH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OOB_TAG</a:t>
            </a:r>
          </a:p>
          <a:p>
            <a:endParaRPr lang="en-US" altLang="zh-CN" sz="400" dirty="0"/>
          </a:p>
        </p:txBody>
      </p:sp>
      <p:sp>
        <p:nvSpPr>
          <p:cNvPr id="29" name="弧形 28"/>
          <p:cNvSpPr/>
          <p:nvPr/>
        </p:nvSpPr>
        <p:spPr>
          <a:xfrm>
            <a:off x="2308602" y="1847442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cxnSp>
        <p:nvCxnSpPr>
          <p:cNvPr id="30" name="直接连接符 29"/>
          <p:cNvCxnSpPr/>
          <p:nvPr/>
        </p:nvCxnSpPr>
        <p:spPr>
          <a:xfrm>
            <a:off x="2388738" y="2547043"/>
            <a:ext cx="0" cy="1582045"/>
          </a:xfrm>
          <a:prstGeom prst="line">
            <a:avLst/>
          </a:prstGeom>
          <a:ln w="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314659" y="2550750"/>
            <a:ext cx="96432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" dirty="0" smtClean="0"/>
              <a:t>1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GET_CONFIGURATION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ADDR_RD</a:t>
            </a:r>
            <a:endParaRPr lang="en-US" altLang="zh-CN" sz="300" dirty="0"/>
          </a:p>
          <a:p>
            <a:r>
              <a:rPr lang="en-US" altLang="zh-CN" sz="300" dirty="0" smtClean="0"/>
              <a:t>      </a:t>
            </a:r>
            <a:r>
              <a:rPr lang="zh-CN" altLang="en-US" sz="300" dirty="0" smtClean="0"/>
              <a:t> </a:t>
            </a:r>
            <a:r>
              <a:rPr lang="en-US" altLang="zh-CN" sz="300" dirty="0" smtClean="0"/>
              <a:t>SET_CONFIGURATION 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ADDR_RD</a:t>
            </a:r>
          </a:p>
          <a:p>
            <a:r>
              <a:rPr lang="en-US" altLang="zh-CN" sz="300" dirty="0" smtClean="0"/>
              <a:t>       </a:t>
            </a:r>
            <a:r>
              <a:rPr lang="en-US" altLang="zh-CN" sz="300" dirty="0" err="1" smtClean="0"/>
              <a:t>get_config_en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r>
              <a:rPr lang="en-US" altLang="zh-CN" sz="300" dirty="0" smtClean="0"/>
              <a:t>       </a:t>
            </a:r>
            <a:r>
              <a:rPr lang="en-US" altLang="zh-CN" sz="300" dirty="0" err="1" smtClean="0"/>
              <a:t>s</a:t>
            </a:r>
            <a:r>
              <a:rPr lang="en-US" altLang="zh-CN" sz="300" dirty="0" err="1" smtClean="0"/>
              <a:t>et_config_en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2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GET_STATUS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GET_VWIRE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CRC_1</a:t>
            </a:r>
          </a:p>
          <a:p>
            <a:r>
              <a:rPr lang="en-US" altLang="zh-CN" sz="300" dirty="0" smtClean="0"/>
              <a:t>       </a:t>
            </a:r>
            <a:r>
              <a:rPr lang="en-US" altLang="zh-CN" sz="300" dirty="0" err="1" smtClean="0"/>
              <a:t>get_status_en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r>
              <a:rPr lang="en-US" altLang="zh-CN" sz="300" dirty="0"/>
              <a:t> </a:t>
            </a:r>
            <a:r>
              <a:rPr lang="en-US" altLang="zh-CN" sz="300" dirty="0" smtClean="0"/>
              <a:t>      </a:t>
            </a:r>
            <a:r>
              <a:rPr lang="en-US" altLang="zh-CN" sz="300" dirty="0" err="1" smtClean="0"/>
              <a:t>get_vwire_en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/>
          </a:p>
          <a:p>
            <a:endParaRPr lang="en-US" altLang="zh-CN" sz="300" dirty="0"/>
          </a:p>
          <a:p>
            <a:r>
              <a:rPr lang="en-US" altLang="zh-CN" sz="300" dirty="0" smtClean="0"/>
              <a:t>3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PUT_VWIRE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VWIRE_LENGTH</a:t>
            </a:r>
          </a:p>
          <a:p>
            <a:r>
              <a:rPr lang="en-US" altLang="zh-CN" sz="300" dirty="0" smtClean="0"/>
              <a:t>        </a:t>
            </a:r>
            <a:r>
              <a:rPr lang="en-US" altLang="zh-CN" sz="300" dirty="0" err="1" smtClean="0"/>
              <a:t>put_vwire_en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4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PUT_OOB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GET_OOB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OOB_TAG</a:t>
            </a:r>
          </a:p>
          <a:p>
            <a:r>
              <a:rPr lang="en-US" altLang="zh-CN" sz="300" dirty="0" smtClean="0"/>
              <a:t>       </a:t>
            </a:r>
            <a:r>
              <a:rPr lang="en-US" altLang="zh-CN" sz="300" dirty="0" err="1" smtClean="0"/>
              <a:t>put_oob_en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r>
              <a:rPr lang="en-US" altLang="zh-CN" sz="300" dirty="0" smtClean="0"/>
              <a:t>        </a:t>
            </a:r>
            <a:r>
              <a:rPr lang="en-US" altLang="zh-CN" sz="300" dirty="0" err="1" smtClean="0"/>
              <a:t>get</a:t>
            </a:r>
            <a:r>
              <a:rPr lang="en-US" altLang="zh-CN" sz="300" dirty="0" err="1" smtClean="0"/>
              <a:t>_oob_en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b="1" dirty="0"/>
          </a:p>
          <a:p>
            <a:r>
              <a:rPr lang="en-US" altLang="zh-CN" sz="300" dirty="0"/>
              <a:t>5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PUT_IORD_SHORT</a:t>
            </a:r>
            <a:r>
              <a:rPr lang="zh-CN" altLang="en-US" sz="300" dirty="0" smtClean="0"/>
              <a:t>下</a:t>
            </a:r>
            <a:r>
              <a:rPr lang="en-US" altLang="zh-CN" sz="300" dirty="0" err="1" smtClean="0"/>
              <a:t>put_iord_short_en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r>
              <a:rPr lang="zh-CN" altLang="en-US" sz="300" dirty="0"/>
              <a:t> </a:t>
            </a:r>
            <a:r>
              <a:rPr lang="zh-CN" altLang="en-US" sz="300" dirty="0" smtClean="0"/>
              <a:t>      </a:t>
            </a:r>
            <a:r>
              <a:rPr lang="en-US" altLang="zh-CN" sz="300" dirty="0" smtClean="0"/>
              <a:t>PUT_IOWR_SHORT</a:t>
            </a:r>
            <a:r>
              <a:rPr lang="zh-CN" altLang="en-US" sz="300" dirty="0" smtClean="0"/>
              <a:t>下</a:t>
            </a:r>
            <a:r>
              <a:rPr lang="en-US" altLang="zh-CN" sz="300" dirty="0" err="1" smtClean="0"/>
              <a:t>put_iowr_short_en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r>
              <a:rPr lang="en-US" altLang="zh-CN" sz="300" dirty="0" smtClean="0"/>
              <a:t>       </a:t>
            </a:r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</p:txBody>
      </p:sp>
      <p:cxnSp>
        <p:nvCxnSpPr>
          <p:cNvPr id="32" name="直接连接符 31"/>
          <p:cNvCxnSpPr/>
          <p:nvPr/>
        </p:nvCxnSpPr>
        <p:spPr>
          <a:xfrm>
            <a:off x="3212650" y="2549424"/>
            <a:ext cx="0" cy="1605857"/>
          </a:xfrm>
          <a:prstGeom prst="line">
            <a:avLst/>
          </a:prstGeom>
          <a:ln w="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136259" y="2543105"/>
            <a:ext cx="108458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" dirty="0" smtClean="0"/>
              <a:t>1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ADDR_RD</a:t>
            </a:r>
            <a:r>
              <a:rPr lang="zh-CN" altLang="en-US" sz="300" dirty="0" smtClean="0"/>
              <a:t>状态下</a:t>
            </a:r>
            <a:r>
              <a:rPr lang="zh-CN" altLang="en-US" sz="300" dirty="0" smtClean="0">
                <a:solidFill>
                  <a:srgbClr val="FF0000"/>
                </a:solidFill>
              </a:rPr>
              <a:t>打</a:t>
            </a:r>
            <a:r>
              <a:rPr lang="en-US" altLang="zh-CN" sz="300" dirty="0" smtClean="0">
                <a:solidFill>
                  <a:srgbClr val="FF0000"/>
                </a:solidFill>
              </a:rPr>
              <a:t>2</a:t>
            </a:r>
            <a:r>
              <a:rPr lang="zh-CN" altLang="en-US" sz="300" dirty="0" smtClean="0">
                <a:solidFill>
                  <a:srgbClr val="FF0000"/>
                </a:solidFill>
              </a:rPr>
              <a:t>拍</a:t>
            </a:r>
            <a:r>
              <a:rPr lang="zh-CN" altLang="en-US" sz="300" dirty="0" smtClean="0"/>
              <a:t>，</a:t>
            </a:r>
            <a:r>
              <a:rPr lang="en-US" altLang="zh-CN" sz="300" dirty="0" err="1" smtClean="0"/>
              <a:t>addr_trans_en</a:t>
            </a:r>
            <a:r>
              <a:rPr lang="zh-CN" altLang="en-US" sz="300" dirty="0"/>
              <a:t>拉高</a:t>
            </a:r>
            <a:endParaRPr lang="en-US" altLang="zh-CN" sz="300" dirty="0" smtClean="0"/>
          </a:p>
          <a:p>
            <a:r>
              <a:rPr lang="en-US" altLang="zh-CN" sz="300" dirty="0" smtClean="0"/>
              <a:t> (1) </a:t>
            </a:r>
            <a:r>
              <a:rPr lang="en-US" altLang="zh-CN" sz="300" dirty="0" err="1" smtClean="0"/>
              <a:t>addr_trans_en+get_confit_en</a:t>
            </a:r>
            <a:r>
              <a:rPr lang="zh-CN" altLang="en-US" sz="300" dirty="0" smtClean="0"/>
              <a:t>跳</a:t>
            </a:r>
            <a:r>
              <a:rPr lang="en-US" altLang="zh-CN" sz="300" dirty="0" smtClean="0"/>
              <a:t>CRC_1 </a:t>
            </a:r>
          </a:p>
          <a:p>
            <a:r>
              <a:rPr lang="en-US" altLang="zh-CN" sz="300" dirty="0"/>
              <a:t> </a:t>
            </a:r>
            <a:r>
              <a:rPr lang="en-US" altLang="zh-CN" sz="300" dirty="0" smtClean="0"/>
              <a:t>(2) </a:t>
            </a:r>
            <a:r>
              <a:rPr lang="en-US" altLang="zh-CN" sz="300" dirty="0" err="1" smtClean="0"/>
              <a:t>set</a:t>
            </a:r>
            <a:r>
              <a:rPr lang="en-US" altLang="zh-CN" sz="300" dirty="0" err="1" smtClean="0"/>
              <a:t>_confit_en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DATA_RD</a:t>
            </a:r>
          </a:p>
          <a:p>
            <a:r>
              <a:rPr lang="en-US" altLang="zh-CN" sz="300" dirty="0" smtClean="0"/>
              <a:t> (</a:t>
            </a:r>
            <a:r>
              <a:rPr lang="en-US" altLang="zh-CN" sz="300" dirty="0"/>
              <a:t>3</a:t>
            </a:r>
            <a:r>
              <a:rPr lang="en-US" altLang="zh-CN" sz="300" dirty="0" smtClean="0"/>
              <a:t>) </a:t>
            </a:r>
            <a:r>
              <a:rPr lang="en-US" altLang="zh-CN" sz="300" dirty="0" err="1" smtClean="0"/>
              <a:t>put_iowr_short_en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SHORT_RD</a:t>
            </a:r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2</a:t>
            </a:r>
            <a:r>
              <a:rPr lang="zh-CN" altLang="en-US" sz="300" dirty="0" smtClean="0"/>
              <a:t>、</a:t>
            </a:r>
            <a:endParaRPr lang="en-US" altLang="zh-CN" sz="300" dirty="0" smtClean="0"/>
          </a:p>
          <a:p>
            <a:r>
              <a:rPr lang="en-US" altLang="zh-CN" sz="300" dirty="0" smtClean="0"/>
              <a:t>(1) </a:t>
            </a:r>
            <a:r>
              <a:rPr lang="en-US" altLang="zh-CN" sz="300" dirty="0" err="1" smtClean="0"/>
              <a:t>st_trans_en</a:t>
            </a:r>
            <a:r>
              <a:rPr lang="en-US" altLang="zh-CN" sz="300" dirty="0" smtClean="0"/>
              <a:t>+!</a:t>
            </a:r>
            <a:r>
              <a:rPr lang="en-US" altLang="zh-CN" sz="300" dirty="0" err="1" smtClean="0"/>
              <a:t>crc_enable</a:t>
            </a:r>
            <a:r>
              <a:rPr lang="zh-CN" altLang="en-US" sz="300" dirty="0" smtClean="0"/>
              <a:t>跳</a:t>
            </a:r>
            <a:r>
              <a:rPr lang="en-US" altLang="zh-CN" sz="300" dirty="0" smtClean="0"/>
              <a:t>TAR</a:t>
            </a:r>
          </a:p>
          <a:p>
            <a:r>
              <a:rPr lang="en-US" altLang="zh-CN" sz="300" dirty="0" smtClean="0"/>
              <a:t>(2) </a:t>
            </a:r>
            <a:r>
              <a:rPr lang="en-US" altLang="zh-CN" sz="300" dirty="0" err="1" smtClean="0"/>
              <a:t>st_trans_en+crc_enable+data_byte_in</a:t>
            </a:r>
            <a:r>
              <a:rPr lang="zh-CN" altLang="en-US" sz="300" dirty="0" smtClean="0"/>
              <a:t>跳</a:t>
            </a:r>
            <a:r>
              <a:rPr lang="en-US" altLang="zh-CN" sz="300" dirty="0" smtClean="0"/>
              <a:t>TAR</a:t>
            </a:r>
          </a:p>
          <a:p>
            <a:r>
              <a:rPr lang="en-US" altLang="zh-CN" sz="300" dirty="0" smtClean="0"/>
              <a:t>      </a:t>
            </a:r>
            <a:r>
              <a:rPr lang="zh-CN" altLang="en-US" sz="300" dirty="0" smtClean="0"/>
              <a:t>否则跳</a:t>
            </a:r>
            <a:r>
              <a:rPr lang="en-US" altLang="zh-CN" sz="300" dirty="0" smtClean="0"/>
              <a:t>CRC_ERR</a:t>
            </a:r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r>
              <a:rPr lang="en-US" altLang="zh-CN" sz="300" dirty="0" smtClean="0"/>
              <a:t>3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STS</a:t>
            </a:r>
            <a:r>
              <a:rPr lang="zh-CN" altLang="en-US" sz="300" dirty="0" smtClean="0"/>
              <a:t>状态下</a:t>
            </a:r>
            <a:r>
              <a:rPr lang="zh-CN" altLang="en-US" sz="300" dirty="0" smtClean="0">
                <a:solidFill>
                  <a:srgbClr val="FF0000"/>
                </a:solidFill>
              </a:rPr>
              <a:t>打</a:t>
            </a:r>
            <a:r>
              <a:rPr lang="en-US" altLang="zh-CN" sz="300" dirty="0" smtClean="0">
                <a:solidFill>
                  <a:srgbClr val="FF0000"/>
                </a:solidFill>
              </a:rPr>
              <a:t>2</a:t>
            </a:r>
            <a:r>
              <a:rPr lang="zh-CN" altLang="en-US" sz="300" dirty="0" smtClean="0">
                <a:solidFill>
                  <a:srgbClr val="FF0000"/>
                </a:solidFill>
              </a:rPr>
              <a:t>拍</a:t>
            </a:r>
            <a:r>
              <a:rPr lang="zh-CN" altLang="en-US" sz="300" dirty="0" smtClean="0"/>
              <a:t>，</a:t>
            </a:r>
            <a:r>
              <a:rPr lang="en-US" altLang="zh-CN" sz="300" dirty="0" err="1" smtClean="0"/>
              <a:t>sts_trans_en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4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OOB_TAG</a:t>
            </a:r>
            <a:r>
              <a:rPr lang="zh-CN" altLang="en-US" sz="300" dirty="0" smtClean="0"/>
              <a:t>在</a:t>
            </a:r>
            <a:r>
              <a:rPr lang="en-US" altLang="zh-CN" sz="300" dirty="0" err="1" smtClean="0"/>
              <a:t>st_trans_en</a:t>
            </a:r>
            <a:r>
              <a:rPr lang="en-US" altLang="zh-CN" sz="300" dirty="0" smtClean="0"/>
              <a:t>/</a:t>
            </a:r>
            <a:r>
              <a:rPr lang="en-US" altLang="zh-CN" sz="300" dirty="0" err="1" smtClean="0"/>
              <a:t>get_oob_en</a:t>
            </a:r>
            <a:r>
              <a:rPr lang="zh-CN" altLang="en-US" sz="300" dirty="0" smtClean="0"/>
              <a:t>下跳</a:t>
            </a:r>
            <a:endParaRPr lang="en-US" altLang="zh-CN" sz="300" dirty="0" smtClean="0"/>
          </a:p>
          <a:p>
            <a:r>
              <a:rPr lang="en-US" altLang="zh-CN" sz="300" dirty="0" smtClean="0"/>
              <a:t>   </a:t>
            </a:r>
            <a:r>
              <a:rPr lang="zh-CN" altLang="en-US" sz="300" dirty="0" smtClean="0"/>
              <a:t>    </a:t>
            </a:r>
            <a:r>
              <a:rPr lang="en-US" altLang="zh-CN" sz="300" dirty="0" smtClean="0"/>
              <a:t>OOB_LENGTH</a:t>
            </a:r>
          </a:p>
          <a:p>
            <a:endParaRPr lang="en-US" altLang="zh-CN" sz="300" dirty="0" smtClean="0"/>
          </a:p>
          <a:p>
            <a:r>
              <a:rPr lang="en-US" altLang="zh-CN" sz="300" dirty="0">
                <a:solidFill>
                  <a:srgbClr val="FF0000"/>
                </a:solidFill>
              </a:rPr>
              <a:t> </a:t>
            </a:r>
            <a:r>
              <a:rPr lang="en-US" altLang="zh-CN" sz="300" dirty="0" smtClean="0">
                <a:solidFill>
                  <a:srgbClr val="FF0000"/>
                </a:solidFill>
              </a:rPr>
              <a:t>      </a:t>
            </a:r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</p:txBody>
      </p:sp>
      <p:sp>
        <p:nvSpPr>
          <p:cNvPr id="37" name="矩形 36"/>
          <p:cNvSpPr/>
          <p:nvPr/>
        </p:nvSpPr>
        <p:spPr>
          <a:xfrm>
            <a:off x="1529116" y="2571544"/>
            <a:ext cx="7794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" dirty="0" smtClean="0"/>
              <a:t>1</a:t>
            </a:r>
            <a:r>
              <a:rPr lang="zh-CN" altLang="en-US" sz="300" dirty="0" smtClean="0"/>
              <a:t>、解析</a:t>
            </a:r>
            <a:r>
              <a:rPr lang="en-US" altLang="zh-CN" sz="300" dirty="0" err="1" smtClean="0"/>
              <a:t>data_byte_in</a:t>
            </a:r>
            <a:r>
              <a:rPr lang="zh-CN" altLang="en-US" sz="300" dirty="0" smtClean="0"/>
              <a:t>进上述各状态</a:t>
            </a:r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8'h21: GET_CONFIGURATION;</a:t>
            </a:r>
          </a:p>
          <a:p>
            <a:r>
              <a:rPr lang="en-US" altLang="zh-CN" sz="300" dirty="0" smtClean="0"/>
              <a:t>8'h22: SET_CONFIGURATION;</a:t>
            </a:r>
          </a:p>
          <a:p>
            <a:r>
              <a:rPr lang="en-US" altLang="zh-CN" sz="300" dirty="0" smtClean="0"/>
              <a:t>8'h25: GET_STATUS;</a:t>
            </a:r>
          </a:p>
          <a:p>
            <a:r>
              <a:rPr lang="en-US" altLang="zh-CN" sz="300" dirty="0" smtClean="0"/>
              <a:t>8‘h05: GET_VWIRE;</a:t>
            </a:r>
          </a:p>
          <a:p>
            <a:r>
              <a:rPr lang="en-US" altLang="zh-CN" sz="300" dirty="0" smtClean="0"/>
              <a:t>8'h04: PUT_VWIRE;</a:t>
            </a:r>
          </a:p>
          <a:p>
            <a:r>
              <a:rPr lang="en-US" altLang="zh-CN" sz="300" dirty="0" smtClean="0"/>
              <a:t>8'h06: PUT_OOB;</a:t>
            </a:r>
          </a:p>
          <a:p>
            <a:r>
              <a:rPr lang="en-US" altLang="zh-CN" sz="300" dirty="0" smtClean="0"/>
              <a:t>8'h07: GET_OOB;</a:t>
            </a:r>
          </a:p>
          <a:p>
            <a:r>
              <a:rPr lang="en-US" altLang="zh-CN" sz="300" dirty="0" smtClean="0"/>
              <a:t>8'h44: PUT_IOWR_SHORT;</a:t>
            </a:r>
          </a:p>
          <a:p>
            <a:r>
              <a:rPr lang="en-US" altLang="zh-CN" sz="300" dirty="0" smtClean="0"/>
              <a:t>8'h40: PUT_IORD_SHORT;</a:t>
            </a:r>
          </a:p>
          <a:p>
            <a:endParaRPr lang="en-US" altLang="zh-CN" sz="300" dirty="0"/>
          </a:p>
        </p:txBody>
      </p:sp>
      <p:sp>
        <p:nvSpPr>
          <p:cNvPr id="38" name="文本框 37"/>
          <p:cNvSpPr txBox="1"/>
          <p:nvPr/>
        </p:nvSpPr>
        <p:spPr>
          <a:xfrm>
            <a:off x="3246217" y="1961193"/>
            <a:ext cx="83287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400" dirty="0" smtClean="0">
                <a:solidFill>
                  <a:srgbClr val="FF0000"/>
                </a:solidFill>
              </a:rPr>
              <a:t>循环</a:t>
            </a:r>
            <a:r>
              <a:rPr lang="en-US" altLang="zh-CN" sz="400" dirty="0" smtClean="0">
                <a:solidFill>
                  <a:srgbClr val="FF0000"/>
                </a:solidFill>
              </a:rPr>
              <a:t>1</a:t>
            </a:r>
            <a:r>
              <a:rPr lang="en-US" altLang="zh-CN" sz="400" dirty="0" smtClean="0"/>
              <a:t>/DATA_RD/SHORT_RD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TAR/CRC_ERR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STS</a:t>
            </a:r>
            <a:r>
              <a:rPr lang="zh-CN" altLang="en-US" sz="400" dirty="0" smtClean="0"/>
              <a:t>（</a:t>
            </a:r>
            <a:r>
              <a:rPr lang="zh-CN" altLang="en-US" sz="400" dirty="0" smtClean="0">
                <a:solidFill>
                  <a:srgbClr val="00B0F0"/>
                </a:solidFill>
              </a:rPr>
              <a:t>循环</a:t>
            </a:r>
            <a:r>
              <a:rPr lang="en-US" altLang="zh-CN" sz="400" dirty="0" smtClean="0">
                <a:solidFill>
                  <a:srgbClr val="00B0F0"/>
                </a:solidFill>
              </a:rPr>
              <a:t>2</a:t>
            </a:r>
            <a:r>
              <a:rPr lang="zh-CN" altLang="en-US" sz="400" dirty="0" smtClean="0">
                <a:solidFill>
                  <a:srgbClr val="FF0000"/>
                </a:solidFill>
              </a:rPr>
              <a:t>）</a:t>
            </a:r>
            <a:endParaRPr lang="en-US" altLang="zh-CN" sz="400" dirty="0" smtClean="0"/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OOB_LENGTH</a:t>
            </a:r>
          </a:p>
          <a:p>
            <a:endParaRPr lang="en-US" altLang="zh-CN" sz="400" dirty="0"/>
          </a:p>
        </p:txBody>
      </p:sp>
      <p:sp>
        <p:nvSpPr>
          <p:cNvPr id="51" name="弧形 50"/>
          <p:cNvSpPr/>
          <p:nvPr/>
        </p:nvSpPr>
        <p:spPr>
          <a:xfrm>
            <a:off x="2972409" y="1846789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cxnSp>
        <p:nvCxnSpPr>
          <p:cNvPr id="52" name="直接连接符 51"/>
          <p:cNvCxnSpPr/>
          <p:nvPr/>
        </p:nvCxnSpPr>
        <p:spPr>
          <a:xfrm>
            <a:off x="4153244" y="2550450"/>
            <a:ext cx="0" cy="1605857"/>
          </a:xfrm>
          <a:prstGeom prst="line">
            <a:avLst/>
          </a:prstGeom>
          <a:ln w="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4211883" y="1959616"/>
            <a:ext cx="83287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>
                <a:solidFill>
                  <a:srgbClr val="FF0000"/>
                </a:solidFill>
              </a:rPr>
              <a:t>……</a:t>
            </a:r>
            <a:r>
              <a:rPr lang="en-US" altLang="zh-CN" sz="400" dirty="0" smtClean="0"/>
              <a:t>/</a:t>
            </a:r>
            <a:r>
              <a:rPr lang="zh-CN" altLang="en-US" sz="400" dirty="0" smtClean="0">
                <a:solidFill>
                  <a:srgbClr val="FF0000"/>
                </a:solidFill>
              </a:rPr>
              <a:t>循环</a:t>
            </a:r>
            <a:r>
              <a:rPr lang="en-US" altLang="zh-CN" sz="400" dirty="0" smtClean="0">
                <a:solidFill>
                  <a:srgbClr val="FF0000"/>
                </a:solidFill>
              </a:rPr>
              <a:t>1 </a:t>
            </a:r>
            <a:r>
              <a:rPr lang="en-US" altLang="zh-CN" sz="400" dirty="0" smtClean="0"/>
              <a:t>/</a:t>
            </a:r>
            <a:r>
              <a:rPr lang="zh-CN" altLang="en-US" sz="400" dirty="0" smtClean="0">
                <a:solidFill>
                  <a:srgbClr val="FF0000"/>
                </a:solidFill>
              </a:rPr>
              <a:t>循环</a:t>
            </a:r>
            <a:r>
              <a:rPr lang="en-US" altLang="zh-CN" sz="400" dirty="0" smtClean="0">
                <a:solidFill>
                  <a:srgbClr val="FF0000"/>
                </a:solidFill>
              </a:rPr>
              <a:t>1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RESP_WAIT/CRC_ERR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CRC_2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OOB_MSG</a:t>
            </a:r>
            <a:r>
              <a:rPr lang="zh-CN" altLang="en-US" sz="400" dirty="0" smtClean="0"/>
              <a:t>（</a:t>
            </a:r>
            <a:r>
              <a:rPr lang="zh-CN" altLang="en-US" sz="400" dirty="0" smtClean="0">
                <a:solidFill>
                  <a:srgbClr val="7030A0"/>
                </a:solidFill>
              </a:rPr>
              <a:t>循环</a:t>
            </a:r>
            <a:r>
              <a:rPr lang="en-US" altLang="zh-CN" sz="400" dirty="0" smtClean="0">
                <a:solidFill>
                  <a:srgbClr val="7030A0"/>
                </a:solidFill>
              </a:rPr>
              <a:t>4</a:t>
            </a:r>
            <a:r>
              <a:rPr lang="zh-CN" altLang="en-US" sz="400" dirty="0" smtClean="0"/>
              <a:t>）</a:t>
            </a:r>
            <a:r>
              <a:rPr lang="en-US" altLang="zh-CN" sz="400" dirty="0" smtClean="0"/>
              <a:t>/</a:t>
            </a:r>
            <a:r>
              <a:rPr lang="zh-CN" altLang="en-US" sz="400" dirty="0" smtClean="0">
                <a:solidFill>
                  <a:srgbClr val="FF0000"/>
                </a:solidFill>
              </a:rPr>
              <a:t>循环</a:t>
            </a:r>
            <a:r>
              <a:rPr lang="en-US" altLang="zh-CN" sz="400" dirty="0" smtClean="0">
                <a:solidFill>
                  <a:srgbClr val="FF0000"/>
                </a:solidFill>
              </a:rPr>
              <a:t>1</a:t>
            </a:r>
          </a:p>
          <a:p>
            <a:endParaRPr lang="en-US" altLang="zh-CN" sz="400" dirty="0"/>
          </a:p>
        </p:txBody>
      </p:sp>
      <p:sp>
        <p:nvSpPr>
          <p:cNvPr id="54" name="圆角矩形 53"/>
          <p:cNvSpPr/>
          <p:nvPr/>
        </p:nvSpPr>
        <p:spPr>
          <a:xfrm>
            <a:off x="1692384" y="1935955"/>
            <a:ext cx="540819" cy="251591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1689626" y="2187368"/>
            <a:ext cx="540819" cy="132471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1689626" y="2322220"/>
            <a:ext cx="540819" cy="51159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1691663" y="2373379"/>
            <a:ext cx="540819" cy="132471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5233045" y="1959656"/>
            <a:ext cx="102249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……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RESP_ACCEPT</a:t>
            </a:r>
            <a:r>
              <a:rPr lang="zh-CN" altLang="en-US" sz="400" dirty="0" smtClean="0"/>
              <a:t>（</a:t>
            </a:r>
            <a:r>
              <a:rPr lang="zh-CN" altLang="en-US" sz="400" dirty="0" smtClean="0">
                <a:solidFill>
                  <a:srgbClr val="00B050"/>
                </a:solidFill>
              </a:rPr>
              <a:t>循环</a:t>
            </a:r>
            <a:r>
              <a:rPr lang="en-US" altLang="zh-CN" sz="400" dirty="0">
                <a:solidFill>
                  <a:srgbClr val="00B050"/>
                </a:solidFill>
              </a:rPr>
              <a:t>3</a:t>
            </a:r>
            <a:r>
              <a:rPr lang="zh-CN" altLang="en-US" sz="400" dirty="0" smtClean="0"/>
              <a:t>）</a:t>
            </a:r>
            <a:r>
              <a:rPr lang="en-US" altLang="zh-CN" sz="400" dirty="0" smtClean="0"/>
              <a:t>/CRC_ERR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{IDLE/CRC_ERR}</a:t>
            </a:r>
          </a:p>
          <a:p>
            <a:endParaRPr lang="en-US" altLang="zh-CN" sz="400" dirty="0"/>
          </a:p>
          <a:p>
            <a:r>
              <a:rPr lang="zh-CN" altLang="en-US" sz="400" dirty="0" smtClean="0"/>
              <a:t>（</a:t>
            </a:r>
            <a:r>
              <a:rPr lang="zh-CN" altLang="en-US" sz="400" dirty="0" smtClean="0">
                <a:solidFill>
                  <a:srgbClr val="FF0000"/>
                </a:solidFill>
              </a:rPr>
              <a:t>循环</a:t>
            </a:r>
            <a:r>
              <a:rPr lang="en-US" altLang="zh-CN" sz="400" dirty="0" smtClean="0">
                <a:solidFill>
                  <a:srgbClr val="FF0000"/>
                </a:solidFill>
              </a:rPr>
              <a:t>1</a:t>
            </a:r>
            <a:r>
              <a:rPr lang="en-US" altLang="zh-CN" sz="400" dirty="0" smtClean="0"/>
              <a:t>/</a:t>
            </a:r>
            <a:r>
              <a:rPr lang="zh-CN" altLang="en-US" sz="400" dirty="0" smtClean="0">
                <a:solidFill>
                  <a:srgbClr val="00B0F0"/>
                </a:solidFill>
              </a:rPr>
              <a:t>循环</a:t>
            </a:r>
            <a:r>
              <a:rPr lang="en-US" altLang="zh-CN" sz="400" dirty="0" smtClean="0">
                <a:solidFill>
                  <a:srgbClr val="00B0F0"/>
                </a:solidFill>
              </a:rPr>
              <a:t>2</a:t>
            </a:r>
            <a:r>
              <a:rPr lang="zh-CN" altLang="en-US" sz="400" dirty="0" smtClean="0"/>
              <a:t>）</a:t>
            </a:r>
            <a:r>
              <a:rPr lang="en-US" altLang="zh-CN" sz="400" dirty="0" smtClean="0"/>
              <a:t>/</a:t>
            </a:r>
            <a:r>
              <a:rPr lang="zh-CN" altLang="en-US" sz="400" dirty="0" smtClean="0">
                <a:solidFill>
                  <a:srgbClr val="FF0000"/>
                </a:solidFill>
              </a:rPr>
              <a:t>循环</a:t>
            </a:r>
            <a:r>
              <a:rPr lang="en-US" altLang="zh-CN" sz="400" dirty="0" smtClean="0">
                <a:solidFill>
                  <a:srgbClr val="FF0000"/>
                </a:solidFill>
              </a:rPr>
              <a:t>1</a:t>
            </a:r>
          </a:p>
          <a:p>
            <a:endParaRPr lang="en-US" altLang="zh-CN" sz="400" dirty="0" smtClean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503320" y="1958330"/>
            <a:ext cx="177390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……</a:t>
            </a:r>
            <a:endParaRPr lang="en-US" altLang="zh-CN" sz="400" dirty="0" smtClean="0"/>
          </a:p>
          <a:p>
            <a:endParaRPr lang="en-US" altLang="zh-CN" sz="400" dirty="0" smtClean="0"/>
          </a:p>
          <a:p>
            <a:r>
              <a:rPr lang="en-US" altLang="zh-CN" sz="400" dirty="0" smtClean="0"/>
              <a:t>{DATA_WR/</a:t>
            </a:r>
            <a:r>
              <a:rPr lang="zh-CN" altLang="en-US" sz="400" dirty="0" smtClean="0">
                <a:solidFill>
                  <a:srgbClr val="00B0F0"/>
                </a:solidFill>
              </a:rPr>
              <a:t>循环</a:t>
            </a:r>
            <a:r>
              <a:rPr lang="en-US" altLang="zh-CN" sz="400" dirty="0" smtClean="0">
                <a:solidFill>
                  <a:srgbClr val="00B0F0"/>
                </a:solidFill>
              </a:rPr>
              <a:t>2 </a:t>
            </a:r>
            <a:r>
              <a:rPr lang="en-US" altLang="zh-CN" sz="400" dirty="0" smtClean="0"/>
              <a:t>/SHORT_WR/VWIRE_DATA_WR/</a:t>
            </a:r>
            <a:r>
              <a:rPr lang="zh-CN" altLang="en-US" sz="400" dirty="0" smtClean="0">
                <a:solidFill>
                  <a:srgbClr val="00B0F0"/>
                </a:solidFill>
              </a:rPr>
              <a:t>循环</a:t>
            </a:r>
            <a:r>
              <a:rPr lang="en-US" altLang="zh-CN" sz="400" dirty="0" smtClean="0">
                <a:solidFill>
                  <a:srgbClr val="00B0F0"/>
                </a:solidFill>
              </a:rPr>
              <a:t>2</a:t>
            </a:r>
            <a:r>
              <a:rPr lang="en-US" altLang="zh-CN" sz="400" dirty="0" smtClean="0">
                <a:solidFill>
                  <a:srgbClr val="FF0000"/>
                </a:solidFill>
              </a:rPr>
              <a:t> </a:t>
            </a:r>
            <a:r>
              <a:rPr lang="en-US" altLang="zh-CN" sz="400" dirty="0" smtClean="0"/>
              <a:t>/</a:t>
            </a:r>
            <a:r>
              <a:rPr lang="zh-CN" altLang="en-US" sz="400" dirty="0" smtClean="0">
                <a:solidFill>
                  <a:srgbClr val="7030A0"/>
                </a:solidFill>
              </a:rPr>
              <a:t>循环</a:t>
            </a:r>
            <a:r>
              <a:rPr lang="en-US" altLang="zh-CN" sz="400" dirty="0" smtClean="0">
                <a:solidFill>
                  <a:srgbClr val="7030A0"/>
                </a:solidFill>
              </a:rPr>
              <a:t>4</a:t>
            </a:r>
            <a:r>
              <a:rPr lang="en-US" altLang="zh-CN" sz="400" dirty="0" smtClean="0"/>
              <a:t>}/CRC_ERR</a:t>
            </a:r>
            <a:endParaRPr lang="en-US" altLang="zh-CN" sz="400" dirty="0" smtClean="0"/>
          </a:p>
          <a:p>
            <a:endParaRPr lang="en-US" altLang="zh-CN" sz="400" dirty="0" smtClean="0"/>
          </a:p>
          <a:p>
            <a:r>
              <a:rPr lang="en-US" altLang="zh-CN" sz="400" dirty="0" smtClean="0"/>
              <a:t>……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……</a:t>
            </a:r>
          </a:p>
          <a:p>
            <a:endParaRPr lang="en-US" altLang="zh-CN" sz="400" dirty="0"/>
          </a:p>
        </p:txBody>
      </p:sp>
      <p:sp>
        <p:nvSpPr>
          <p:cNvPr id="89" name="文本框 88"/>
          <p:cNvSpPr txBox="1"/>
          <p:nvPr/>
        </p:nvSpPr>
        <p:spPr>
          <a:xfrm>
            <a:off x="1265980" y="535349"/>
            <a:ext cx="297656" cy="1538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IDLE</a:t>
            </a:r>
            <a:endParaRPr lang="zh-CN" altLang="en-US" sz="400" dirty="0"/>
          </a:p>
        </p:txBody>
      </p:sp>
      <p:sp>
        <p:nvSpPr>
          <p:cNvPr id="90" name="文本框 89"/>
          <p:cNvSpPr txBox="1"/>
          <p:nvPr/>
        </p:nvSpPr>
        <p:spPr>
          <a:xfrm>
            <a:off x="1732790" y="531942"/>
            <a:ext cx="402431" cy="1538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OPCODE</a:t>
            </a:r>
            <a:endParaRPr lang="zh-CN" altLang="en-US" sz="400" dirty="0"/>
          </a:p>
        </p:txBody>
      </p:sp>
      <p:sp>
        <p:nvSpPr>
          <p:cNvPr id="91" name="文本框 90"/>
          <p:cNvSpPr txBox="1"/>
          <p:nvPr/>
        </p:nvSpPr>
        <p:spPr>
          <a:xfrm>
            <a:off x="2319341" y="342633"/>
            <a:ext cx="68818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GET_CONFIGURATION</a:t>
            </a:r>
            <a:endParaRPr lang="en-US" altLang="zh-CN" sz="400" dirty="0"/>
          </a:p>
          <a:p>
            <a:r>
              <a:rPr lang="en-US" altLang="zh-CN" sz="400" dirty="0" smtClean="0"/>
              <a:t>SET_CONFIGURATION</a:t>
            </a:r>
          </a:p>
          <a:p>
            <a:r>
              <a:rPr lang="en-US" altLang="zh-CN" sz="400" dirty="0" smtClean="0"/>
              <a:t>PUT_IOWR_SHORT</a:t>
            </a:r>
          </a:p>
          <a:p>
            <a:r>
              <a:rPr lang="en-US" altLang="zh-CN" sz="400" dirty="0" smtClean="0"/>
              <a:t>PUT_IORD_SHORT</a:t>
            </a:r>
          </a:p>
          <a:p>
            <a:r>
              <a:rPr lang="en-US" altLang="zh-CN" sz="400" dirty="0" smtClean="0"/>
              <a:t>GET_STATUS</a:t>
            </a:r>
            <a:endParaRPr lang="en-US" altLang="zh-CN" sz="400" dirty="0"/>
          </a:p>
          <a:p>
            <a:r>
              <a:rPr lang="en-US" altLang="zh-CN" sz="400" dirty="0" smtClean="0"/>
              <a:t>GET_VWIRE</a:t>
            </a:r>
            <a:endParaRPr lang="en-US" altLang="zh-CN" sz="400" dirty="0"/>
          </a:p>
          <a:p>
            <a:r>
              <a:rPr lang="en-US" altLang="zh-CN" sz="400" dirty="0" smtClean="0"/>
              <a:t>PUT_VWIRE</a:t>
            </a:r>
            <a:endParaRPr lang="en-US" altLang="zh-CN" sz="400" dirty="0"/>
          </a:p>
          <a:p>
            <a:r>
              <a:rPr lang="en-US" altLang="zh-CN" sz="400" dirty="0" smtClean="0"/>
              <a:t>PUT_OOB</a:t>
            </a:r>
            <a:endParaRPr lang="en-US" altLang="zh-CN" sz="400" dirty="0"/>
          </a:p>
          <a:p>
            <a:r>
              <a:rPr lang="en-US" altLang="zh-CN" sz="400" dirty="0" smtClean="0"/>
              <a:t>GET_OOB</a:t>
            </a:r>
            <a:endParaRPr lang="en-US" altLang="zh-CN" sz="400" dirty="0"/>
          </a:p>
        </p:txBody>
      </p:sp>
      <p:sp>
        <p:nvSpPr>
          <p:cNvPr id="92" name="文本框 91"/>
          <p:cNvSpPr txBox="1"/>
          <p:nvPr/>
        </p:nvSpPr>
        <p:spPr>
          <a:xfrm>
            <a:off x="3186029" y="402842"/>
            <a:ext cx="55967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ADDR_RD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CRC_1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VMIRE_LENGTH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OOB_TAG</a:t>
            </a:r>
          </a:p>
          <a:p>
            <a:endParaRPr lang="en-US" altLang="zh-CN" sz="400" dirty="0"/>
          </a:p>
        </p:txBody>
      </p:sp>
      <p:sp>
        <p:nvSpPr>
          <p:cNvPr id="93" name="弧形 92"/>
          <p:cNvSpPr/>
          <p:nvPr/>
        </p:nvSpPr>
        <p:spPr>
          <a:xfrm>
            <a:off x="2996783" y="289093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94" name="文本框 93"/>
          <p:cNvSpPr txBox="1"/>
          <p:nvPr/>
        </p:nvSpPr>
        <p:spPr>
          <a:xfrm>
            <a:off x="3934398" y="402844"/>
            <a:ext cx="83287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CRC_1/DATA_RD/SHORT_RD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TAR/CRC_ERR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STS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OOB_LENGTH</a:t>
            </a:r>
          </a:p>
          <a:p>
            <a:endParaRPr lang="en-US" altLang="zh-CN" sz="400" dirty="0"/>
          </a:p>
        </p:txBody>
      </p:sp>
      <p:sp>
        <p:nvSpPr>
          <p:cNvPr id="95" name="弧形 94"/>
          <p:cNvSpPr/>
          <p:nvPr/>
        </p:nvSpPr>
        <p:spPr>
          <a:xfrm>
            <a:off x="3660590" y="288440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96" name="文本框 95"/>
          <p:cNvSpPr txBox="1"/>
          <p:nvPr/>
        </p:nvSpPr>
        <p:spPr>
          <a:xfrm>
            <a:off x="4900064" y="401267"/>
            <a:ext cx="832876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{TAR/CRC_ERR}/CRC_1/CRC_1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RESP_WAIT/CRC_ERR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CRC_2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OOB_LENGTH</a:t>
            </a:r>
          </a:p>
          <a:p>
            <a:endParaRPr lang="en-US" altLang="zh-CN" sz="400" dirty="0"/>
          </a:p>
        </p:txBody>
      </p:sp>
      <p:sp>
        <p:nvSpPr>
          <p:cNvPr id="97" name="圆角矩形 96"/>
          <p:cNvSpPr/>
          <p:nvPr/>
        </p:nvSpPr>
        <p:spPr>
          <a:xfrm>
            <a:off x="2380565" y="377606"/>
            <a:ext cx="540819" cy="251591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圆角矩形 97"/>
          <p:cNvSpPr/>
          <p:nvPr/>
        </p:nvSpPr>
        <p:spPr>
          <a:xfrm>
            <a:off x="2377807" y="629019"/>
            <a:ext cx="540819" cy="132471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圆角矩形 98"/>
          <p:cNvSpPr/>
          <p:nvPr/>
        </p:nvSpPr>
        <p:spPr>
          <a:xfrm>
            <a:off x="2377807" y="763871"/>
            <a:ext cx="540819" cy="51159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圆角矩形 99"/>
          <p:cNvSpPr/>
          <p:nvPr/>
        </p:nvSpPr>
        <p:spPr>
          <a:xfrm>
            <a:off x="2379844" y="815030"/>
            <a:ext cx="540819" cy="132471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5921226" y="401307"/>
            <a:ext cx="102249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{RESP_WAIT/CRC_ERR}/CRC_1/CRC_1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RESP_ACCEPT/CRC_ERR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{IDLE/CRC_ERR}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OOB_MSG/CRC_1</a:t>
            </a:r>
          </a:p>
          <a:p>
            <a:endParaRPr lang="en-US" altLang="zh-CN" sz="400" dirty="0"/>
          </a:p>
        </p:txBody>
      </p:sp>
      <p:sp>
        <p:nvSpPr>
          <p:cNvPr id="102" name="文本框 101"/>
          <p:cNvSpPr txBox="1"/>
          <p:nvPr/>
        </p:nvSpPr>
        <p:spPr>
          <a:xfrm>
            <a:off x="7191501" y="399981"/>
            <a:ext cx="1022498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{RESP_ACCEPT/CRC_ERR}/CRC_1/CRC_1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{DATA_W/CRC_ERR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{IDLE/CRC_ERR}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OOB_MSG/CRC_1</a:t>
            </a:r>
          </a:p>
          <a:p>
            <a:endParaRPr lang="en-US" altLang="zh-CN" sz="400" dirty="0"/>
          </a:p>
        </p:txBody>
      </p:sp>
      <p:sp>
        <p:nvSpPr>
          <p:cNvPr id="103" name="文本框 102"/>
          <p:cNvSpPr txBox="1"/>
          <p:nvPr/>
        </p:nvSpPr>
        <p:spPr>
          <a:xfrm>
            <a:off x="8389881" y="1964163"/>
            <a:ext cx="74210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400" dirty="0" smtClean="0"/>
              <a:t>...</a:t>
            </a:r>
          </a:p>
          <a:p>
            <a:endParaRPr lang="en-US" altLang="zh-CN" sz="400" dirty="0" smtClean="0"/>
          </a:p>
          <a:p>
            <a:endParaRPr lang="en-US" altLang="zh-CN" sz="400" dirty="0" smtClean="0"/>
          </a:p>
          <a:p>
            <a:r>
              <a:rPr lang="zh-CN" altLang="en-US" sz="400" dirty="0" smtClean="0">
                <a:solidFill>
                  <a:srgbClr val="00B0F0"/>
                </a:solidFill>
              </a:rPr>
              <a:t>循环</a:t>
            </a:r>
            <a:r>
              <a:rPr lang="en-US" altLang="zh-CN" sz="400" dirty="0" smtClean="0">
                <a:solidFill>
                  <a:srgbClr val="00B0F0"/>
                </a:solidFill>
              </a:rPr>
              <a:t>2</a:t>
            </a:r>
          </a:p>
          <a:p>
            <a:endParaRPr lang="en-US" altLang="zh-CN" sz="400" dirty="0" smtClean="0"/>
          </a:p>
          <a:p>
            <a:r>
              <a:rPr lang="en-US" altLang="zh-CN" sz="400" dirty="0" smtClean="0"/>
              <a:t>…</a:t>
            </a:r>
          </a:p>
          <a:p>
            <a:r>
              <a:rPr lang="en-US" altLang="zh-CN" sz="400" dirty="0" smtClean="0"/>
              <a:t>…</a:t>
            </a:r>
          </a:p>
          <a:p>
            <a:endParaRPr lang="en-US" altLang="zh-CN" sz="400" dirty="0" smtClean="0"/>
          </a:p>
        </p:txBody>
      </p:sp>
      <p:sp>
        <p:nvSpPr>
          <p:cNvPr id="104" name="弧形 103"/>
          <p:cNvSpPr/>
          <p:nvPr/>
        </p:nvSpPr>
        <p:spPr>
          <a:xfrm>
            <a:off x="3896216" y="1837505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05" name="弧形 104"/>
          <p:cNvSpPr/>
          <p:nvPr/>
        </p:nvSpPr>
        <p:spPr>
          <a:xfrm>
            <a:off x="4937127" y="1832650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06" name="弧形 105"/>
          <p:cNvSpPr/>
          <p:nvPr/>
        </p:nvSpPr>
        <p:spPr>
          <a:xfrm>
            <a:off x="6152336" y="1837505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07" name="弧形 106"/>
          <p:cNvSpPr/>
          <p:nvPr/>
        </p:nvSpPr>
        <p:spPr>
          <a:xfrm>
            <a:off x="8074214" y="1837505"/>
            <a:ext cx="406024" cy="224245"/>
          </a:xfrm>
          <a:prstGeom prst="arc">
            <a:avLst>
              <a:gd name="adj1" fmla="val 10572815"/>
              <a:gd name="adj2" fmla="val 0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09" name="矩形 108"/>
          <p:cNvSpPr/>
          <p:nvPr/>
        </p:nvSpPr>
        <p:spPr>
          <a:xfrm>
            <a:off x="4101795" y="2531691"/>
            <a:ext cx="10845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" dirty="0" smtClean="0"/>
              <a:t>1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ADDR_RD</a:t>
            </a:r>
            <a:r>
              <a:rPr lang="zh-CN" altLang="en-US" sz="300" dirty="0" smtClean="0"/>
              <a:t>状态下</a:t>
            </a:r>
            <a:r>
              <a:rPr lang="zh-CN" altLang="en-US" sz="300" dirty="0" smtClean="0">
                <a:solidFill>
                  <a:srgbClr val="FF0000"/>
                </a:solidFill>
              </a:rPr>
              <a:t>打</a:t>
            </a:r>
            <a:r>
              <a:rPr lang="en-US" altLang="zh-CN" sz="300" dirty="0" smtClean="0">
                <a:solidFill>
                  <a:srgbClr val="FF0000"/>
                </a:solidFill>
              </a:rPr>
              <a:t>2</a:t>
            </a:r>
            <a:r>
              <a:rPr lang="zh-CN" altLang="en-US" sz="300" dirty="0" smtClean="0">
                <a:solidFill>
                  <a:srgbClr val="FF0000"/>
                </a:solidFill>
              </a:rPr>
              <a:t>拍</a:t>
            </a:r>
            <a:r>
              <a:rPr lang="zh-CN" altLang="en-US" sz="300" dirty="0" smtClean="0"/>
              <a:t>，</a:t>
            </a:r>
            <a:r>
              <a:rPr lang="en-US" altLang="zh-CN" sz="300" dirty="0" err="1" smtClean="0"/>
              <a:t>addr_trans_en</a:t>
            </a:r>
            <a:r>
              <a:rPr lang="zh-CN" altLang="en-US" sz="300" dirty="0"/>
              <a:t>拉高</a:t>
            </a:r>
            <a:endParaRPr lang="en-US" altLang="zh-CN" sz="300" dirty="0" smtClean="0"/>
          </a:p>
          <a:p>
            <a:r>
              <a:rPr lang="en-US" altLang="zh-CN" sz="300" dirty="0" smtClean="0"/>
              <a:t> (1) </a:t>
            </a:r>
            <a:r>
              <a:rPr lang="en-US" altLang="zh-CN" sz="300" dirty="0" err="1" smtClean="0"/>
              <a:t>addr_trans_en+get_confit_en</a:t>
            </a:r>
            <a:r>
              <a:rPr lang="zh-CN" altLang="en-US" sz="300" dirty="0" smtClean="0"/>
              <a:t>跳</a:t>
            </a:r>
            <a:r>
              <a:rPr lang="en-US" altLang="zh-CN" sz="300" dirty="0" smtClean="0"/>
              <a:t>CRC_1 </a:t>
            </a:r>
          </a:p>
          <a:p>
            <a:r>
              <a:rPr lang="en-US" altLang="zh-CN" sz="300" dirty="0"/>
              <a:t> </a:t>
            </a:r>
            <a:r>
              <a:rPr lang="en-US" altLang="zh-CN" sz="300" dirty="0" smtClean="0"/>
              <a:t>(2) </a:t>
            </a:r>
            <a:r>
              <a:rPr lang="en-US" altLang="zh-CN" sz="300" dirty="0" err="1" smtClean="0"/>
              <a:t>set</a:t>
            </a:r>
            <a:r>
              <a:rPr lang="en-US" altLang="zh-CN" sz="300" dirty="0" err="1" smtClean="0"/>
              <a:t>_confit_en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DATA_RD</a:t>
            </a:r>
          </a:p>
          <a:p>
            <a:r>
              <a:rPr lang="en-US" altLang="zh-CN" sz="300" dirty="0" smtClean="0"/>
              <a:t> (</a:t>
            </a:r>
            <a:r>
              <a:rPr lang="en-US" altLang="zh-CN" sz="300" dirty="0"/>
              <a:t>3</a:t>
            </a:r>
            <a:r>
              <a:rPr lang="en-US" altLang="zh-CN" sz="300" dirty="0" smtClean="0"/>
              <a:t>) </a:t>
            </a:r>
            <a:r>
              <a:rPr lang="en-US" altLang="zh-CN" sz="300" dirty="0" err="1" smtClean="0"/>
              <a:t>put_iowr_short_en</a:t>
            </a:r>
            <a:r>
              <a:rPr lang="zh-CN" altLang="en-US" sz="300" dirty="0" smtClean="0"/>
              <a:t>直跳</a:t>
            </a:r>
            <a:r>
              <a:rPr lang="en-US" altLang="zh-CN" sz="300" dirty="0" smtClean="0"/>
              <a:t>SHORT_RD</a:t>
            </a:r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2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TAR</a:t>
            </a:r>
            <a:r>
              <a:rPr lang="zh-CN" altLang="en-US" sz="300" dirty="0" smtClean="0"/>
              <a:t>状态下</a:t>
            </a:r>
            <a:r>
              <a:rPr lang="zh-CN" altLang="en-US" sz="300" dirty="0" smtClean="0">
                <a:solidFill>
                  <a:srgbClr val="FF0000"/>
                </a:solidFill>
              </a:rPr>
              <a:t>打</a:t>
            </a:r>
            <a:r>
              <a:rPr lang="en-US" altLang="zh-CN" sz="300" dirty="0" smtClean="0">
                <a:solidFill>
                  <a:srgbClr val="FF0000"/>
                </a:solidFill>
              </a:rPr>
              <a:t>2</a:t>
            </a:r>
            <a:r>
              <a:rPr lang="zh-CN" altLang="en-US" sz="300" dirty="0" smtClean="0">
                <a:solidFill>
                  <a:srgbClr val="FF0000"/>
                </a:solidFill>
              </a:rPr>
              <a:t>拍</a:t>
            </a:r>
            <a:r>
              <a:rPr lang="zh-CN" altLang="en-US" sz="300" dirty="0" smtClean="0"/>
              <a:t>，</a:t>
            </a:r>
            <a:r>
              <a:rPr lang="en-US" altLang="zh-CN" sz="300" dirty="0" err="1" smtClean="0"/>
              <a:t>tar_trans_en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r>
              <a:rPr lang="en-US" altLang="zh-CN" sz="300" dirty="0" smtClean="0"/>
              <a:t>(1) </a:t>
            </a:r>
            <a:r>
              <a:rPr lang="en-US" altLang="zh-CN" sz="300" dirty="0" err="1" smtClean="0"/>
              <a:t>tar_trans_en</a:t>
            </a:r>
            <a:r>
              <a:rPr lang="zh-CN" altLang="en-US" sz="300" dirty="0" smtClean="0"/>
              <a:t>跳</a:t>
            </a:r>
            <a:r>
              <a:rPr lang="en-US" altLang="zh-CN" sz="300" dirty="0" smtClean="0"/>
              <a:t>RESP_WAIT</a:t>
            </a:r>
          </a:p>
          <a:p>
            <a:r>
              <a:rPr lang="en-US" altLang="zh-CN" sz="300" dirty="0" smtClean="0"/>
              <a:t>(2) CRR_ERR</a:t>
            </a:r>
            <a:r>
              <a:rPr lang="zh-CN" altLang="en-US" sz="300" dirty="0" smtClean="0"/>
              <a:t>下状态机挂死</a:t>
            </a:r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r>
              <a:rPr lang="en-US" altLang="zh-CN" sz="300" dirty="0" smtClean="0"/>
              <a:t>3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STS</a:t>
            </a:r>
            <a:r>
              <a:rPr lang="zh-CN" altLang="en-US" sz="300" dirty="0" smtClean="0"/>
              <a:t>状态下</a:t>
            </a:r>
            <a:r>
              <a:rPr lang="zh-CN" altLang="en-US" sz="300" dirty="0" smtClean="0">
                <a:solidFill>
                  <a:srgbClr val="FF0000"/>
                </a:solidFill>
              </a:rPr>
              <a:t>打</a:t>
            </a:r>
            <a:r>
              <a:rPr lang="en-US" altLang="zh-CN" sz="300" dirty="0" smtClean="0">
                <a:solidFill>
                  <a:srgbClr val="FF0000"/>
                </a:solidFill>
              </a:rPr>
              <a:t>2</a:t>
            </a:r>
            <a:r>
              <a:rPr lang="zh-CN" altLang="en-US" sz="300" dirty="0" smtClean="0">
                <a:solidFill>
                  <a:srgbClr val="FF0000"/>
                </a:solidFill>
              </a:rPr>
              <a:t>拍</a:t>
            </a:r>
            <a:r>
              <a:rPr lang="zh-CN" altLang="en-US" sz="300" dirty="0" smtClean="0"/>
              <a:t>，</a:t>
            </a:r>
            <a:r>
              <a:rPr lang="en-US" altLang="zh-CN" sz="300" dirty="0" err="1" smtClean="0"/>
              <a:t>sts_trans_en</a:t>
            </a:r>
            <a:r>
              <a:rPr lang="zh-CN" altLang="en-US" sz="300" dirty="0" smtClean="0"/>
              <a:t>拉高</a:t>
            </a:r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4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(1) </a:t>
            </a:r>
            <a:r>
              <a:rPr lang="en-US" altLang="zh-CN" sz="300" dirty="0" err="1" smtClean="0"/>
              <a:t>st_trans_en+put_oob_en</a:t>
            </a:r>
            <a:r>
              <a:rPr lang="zh-CN" altLang="en-US" sz="300" dirty="0" smtClean="0"/>
              <a:t>下跳</a:t>
            </a:r>
            <a:r>
              <a:rPr lang="en-US" altLang="zh-CN" sz="300" dirty="0" smtClean="0"/>
              <a:t>OOB_MSG</a:t>
            </a:r>
          </a:p>
          <a:p>
            <a:r>
              <a:rPr lang="en-US" altLang="zh-CN" sz="300" dirty="0" smtClean="0"/>
              <a:t>       (2) </a:t>
            </a:r>
            <a:r>
              <a:rPr lang="en-US" altLang="zh-CN" sz="300" dirty="0" err="1" smtClean="0"/>
              <a:t>st_trans_en+get_oob_en</a:t>
            </a:r>
            <a:r>
              <a:rPr lang="zh-CN" altLang="en-US" sz="300" dirty="0" smtClean="0"/>
              <a:t>下跳</a:t>
            </a:r>
            <a:r>
              <a:rPr lang="en-US" altLang="zh-CN" sz="300" dirty="0" smtClean="0"/>
              <a:t>OOB_MSG</a:t>
            </a:r>
          </a:p>
          <a:p>
            <a:endParaRPr lang="en-US" altLang="zh-CN" sz="300" dirty="0" smtClean="0"/>
          </a:p>
          <a:p>
            <a:r>
              <a:rPr lang="en-US" altLang="zh-CN" sz="300" dirty="0">
                <a:solidFill>
                  <a:srgbClr val="FF0000"/>
                </a:solidFill>
              </a:rPr>
              <a:t> </a:t>
            </a:r>
            <a:r>
              <a:rPr lang="en-US" altLang="zh-CN" sz="300" dirty="0" smtClean="0">
                <a:solidFill>
                  <a:srgbClr val="FF0000"/>
                </a:solidFill>
              </a:rPr>
              <a:t>      </a:t>
            </a:r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</p:txBody>
      </p:sp>
      <p:cxnSp>
        <p:nvCxnSpPr>
          <p:cNvPr id="110" name="直接连接符 109"/>
          <p:cNvCxnSpPr/>
          <p:nvPr/>
        </p:nvCxnSpPr>
        <p:spPr>
          <a:xfrm>
            <a:off x="5118780" y="2551736"/>
            <a:ext cx="0" cy="1605857"/>
          </a:xfrm>
          <a:prstGeom prst="line">
            <a:avLst/>
          </a:prstGeom>
          <a:ln w="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>
          <a:xfrm>
            <a:off x="1590446" y="2550759"/>
            <a:ext cx="8548582" cy="16082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"/>
          </a:p>
        </p:txBody>
      </p:sp>
      <p:sp>
        <p:nvSpPr>
          <p:cNvPr id="112" name="矩形 111"/>
          <p:cNvSpPr/>
          <p:nvPr/>
        </p:nvSpPr>
        <p:spPr>
          <a:xfrm>
            <a:off x="5118780" y="2535407"/>
            <a:ext cx="890420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r>
              <a:rPr lang="en-US" altLang="zh-CN" sz="300" dirty="0" smtClean="0"/>
              <a:t>2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RESP_WAIT</a:t>
            </a:r>
            <a:r>
              <a:rPr lang="zh-CN" altLang="en-US" sz="300" dirty="0" smtClean="0"/>
              <a:t>状态下直跳</a:t>
            </a:r>
            <a:r>
              <a:rPr lang="en-US" altLang="zh-CN" sz="300" dirty="0" smtClean="0"/>
              <a:t>RESP_ACCEPT</a:t>
            </a:r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r>
              <a:rPr lang="en-US" altLang="zh-CN" sz="300" dirty="0" smtClean="0"/>
              <a:t>4</a:t>
            </a:r>
            <a:r>
              <a:rPr lang="zh-CN" altLang="en-US" sz="300" dirty="0" smtClean="0"/>
              <a:t>、</a:t>
            </a:r>
            <a:r>
              <a:rPr lang="en-US" altLang="zh-CN" sz="300" dirty="0" smtClean="0"/>
              <a:t>(1) </a:t>
            </a:r>
            <a:r>
              <a:rPr lang="en-US" altLang="zh-CN" sz="300" dirty="0" err="1" smtClean="0"/>
              <a:t>put_oob_en</a:t>
            </a:r>
            <a:r>
              <a:rPr lang="zh-CN" altLang="en-US" sz="300" dirty="0" smtClean="0"/>
              <a:t>跳</a:t>
            </a:r>
            <a:r>
              <a:rPr lang="en-US" altLang="zh-CN" sz="300" dirty="0" smtClean="0"/>
              <a:t>CRC_1</a:t>
            </a:r>
          </a:p>
          <a:p>
            <a:r>
              <a:rPr lang="en-US" altLang="zh-CN" sz="300" dirty="0"/>
              <a:t> </a:t>
            </a:r>
            <a:r>
              <a:rPr lang="en-US" altLang="zh-CN" sz="300" dirty="0" smtClean="0"/>
              <a:t>      (2) </a:t>
            </a:r>
            <a:r>
              <a:rPr lang="en-US" altLang="zh-CN" sz="300" dirty="0" err="1" smtClean="0"/>
              <a:t>get_oob_en</a:t>
            </a:r>
            <a:r>
              <a:rPr lang="zh-CN" altLang="en-US" sz="300" dirty="0" smtClean="0"/>
              <a:t>跳</a:t>
            </a:r>
            <a:r>
              <a:rPr lang="en-US" altLang="zh-CN" sz="300" dirty="0" smtClean="0"/>
              <a:t>STS</a:t>
            </a:r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r>
              <a:rPr lang="en-US" altLang="zh-CN" sz="300" dirty="0">
                <a:solidFill>
                  <a:srgbClr val="FF0000"/>
                </a:solidFill>
              </a:rPr>
              <a:t> </a:t>
            </a:r>
            <a:r>
              <a:rPr lang="en-US" altLang="zh-CN" sz="300" dirty="0" smtClean="0">
                <a:solidFill>
                  <a:srgbClr val="FF0000"/>
                </a:solidFill>
              </a:rPr>
              <a:t>      </a:t>
            </a:r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</p:txBody>
      </p:sp>
      <p:cxnSp>
        <p:nvCxnSpPr>
          <p:cNvPr id="113" name="直接连接符 112"/>
          <p:cNvCxnSpPr/>
          <p:nvPr/>
        </p:nvCxnSpPr>
        <p:spPr>
          <a:xfrm>
            <a:off x="6355186" y="2559434"/>
            <a:ext cx="0" cy="1605857"/>
          </a:xfrm>
          <a:prstGeom prst="line">
            <a:avLst/>
          </a:prstGeom>
          <a:ln w="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/>
          <p:cNvSpPr/>
          <p:nvPr/>
        </p:nvSpPr>
        <p:spPr>
          <a:xfrm>
            <a:off x="6355186" y="2543105"/>
            <a:ext cx="9655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r>
              <a:rPr lang="en-US" altLang="zh-CN" sz="300" dirty="0" smtClean="0"/>
              <a:t>2</a:t>
            </a:r>
            <a:r>
              <a:rPr lang="zh-CN" altLang="en-US" sz="300" dirty="0" smtClean="0"/>
              <a:t>、</a:t>
            </a:r>
            <a:endParaRPr lang="en-US" altLang="zh-CN" sz="300" dirty="0" smtClean="0"/>
          </a:p>
          <a:p>
            <a:r>
              <a:rPr lang="en-US" altLang="zh-CN" sz="300" dirty="0" smtClean="0"/>
              <a:t>(1) </a:t>
            </a:r>
            <a:r>
              <a:rPr lang="en-US" altLang="zh-CN" sz="300" dirty="0" err="1" smtClean="0"/>
              <a:t>get_config_en</a:t>
            </a:r>
            <a:r>
              <a:rPr lang="zh-CN" altLang="en-US" sz="300" dirty="0" smtClean="0"/>
              <a:t>下直跳</a:t>
            </a:r>
            <a:r>
              <a:rPr lang="en-US" altLang="zh-CN" sz="300" dirty="0" smtClean="0"/>
              <a:t>DATA_WR</a:t>
            </a:r>
          </a:p>
          <a:p>
            <a:endParaRPr lang="en-US" altLang="zh-CN" sz="300" dirty="0" smtClean="0"/>
          </a:p>
          <a:p>
            <a:r>
              <a:rPr lang="en-US" altLang="zh-CN" sz="300" dirty="0" smtClean="0"/>
              <a:t>(2) </a:t>
            </a:r>
            <a:r>
              <a:rPr lang="en-US" altLang="zh-CN" sz="300" dirty="0" err="1" smtClean="0"/>
              <a:t>put_iord_short_en</a:t>
            </a:r>
            <a:r>
              <a:rPr lang="zh-CN" altLang="en-US" sz="300" dirty="0" smtClean="0"/>
              <a:t>下直跳</a:t>
            </a:r>
            <a:r>
              <a:rPr lang="en-US" altLang="zh-CN" sz="300" dirty="0" smtClean="0"/>
              <a:t>SHORT_WR</a:t>
            </a:r>
          </a:p>
          <a:p>
            <a:endParaRPr lang="en-US" altLang="zh-CN" sz="300" dirty="0" smtClean="0"/>
          </a:p>
          <a:p>
            <a:r>
              <a:rPr lang="en-US" altLang="zh-CN" sz="300" dirty="0" smtClean="0"/>
              <a:t>(3) </a:t>
            </a:r>
            <a:r>
              <a:rPr lang="en-US" altLang="zh-CN" sz="300" dirty="0" err="1" smtClean="0"/>
              <a:t>get_vwire_en</a:t>
            </a:r>
            <a:endParaRPr lang="en-US" altLang="zh-CN" sz="300" dirty="0" smtClean="0"/>
          </a:p>
          <a:p>
            <a:r>
              <a:rPr lang="en-US" altLang="zh-CN" sz="300" dirty="0"/>
              <a:t> </a:t>
            </a:r>
            <a:r>
              <a:rPr lang="en-US" altLang="zh-CN" sz="300" dirty="0" smtClean="0"/>
              <a:t>     </a:t>
            </a:r>
            <a:r>
              <a:rPr lang="en-US" altLang="zh-CN" sz="300" dirty="0" err="1" smtClean="0"/>
              <a:t>set_config_en</a:t>
            </a:r>
            <a:r>
              <a:rPr lang="en-US" altLang="zh-CN" sz="300" dirty="0" smtClean="0"/>
              <a:t>  </a:t>
            </a:r>
          </a:p>
          <a:p>
            <a:r>
              <a:rPr lang="en-US" altLang="zh-CN" sz="300" dirty="0" smtClean="0"/>
              <a:t>      </a:t>
            </a:r>
            <a:r>
              <a:rPr lang="en-US" altLang="zh-CN" sz="300" dirty="0" err="1" smtClean="0"/>
              <a:t>get_status_en</a:t>
            </a:r>
            <a:r>
              <a:rPr lang="en-US" altLang="zh-CN" sz="300" dirty="0" smtClean="0"/>
              <a:t> </a:t>
            </a:r>
          </a:p>
          <a:p>
            <a:r>
              <a:rPr lang="en-US" altLang="zh-CN" sz="300" dirty="0" smtClean="0"/>
              <a:t>      </a:t>
            </a:r>
            <a:r>
              <a:rPr lang="en-US" altLang="zh-CN" sz="300" dirty="0" err="1" smtClean="0"/>
              <a:t>put_vwire_en</a:t>
            </a:r>
            <a:r>
              <a:rPr lang="en-US" altLang="zh-CN" sz="300" dirty="0" smtClean="0"/>
              <a:t> </a:t>
            </a:r>
          </a:p>
          <a:p>
            <a:r>
              <a:rPr lang="en-US" altLang="zh-CN" sz="300" dirty="0" smtClean="0"/>
              <a:t>      </a:t>
            </a:r>
            <a:r>
              <a:rPr lang="en-US" altLang="zh-CN" sz="300" dirty="0" err="1" smtClean="0"/>
              <a:t>put_iowr_short_en</a:t>
            </a:r>
            <a:r>
              <a:rPr lang="zh-CN" altLang="en-US" sz="300" dirty="0" smtClean="0"/>
              <a:t>下直跳循环</a:t>
            </a:r>
            <a:r>
              <a:rPr lang="en-US" altLang="zh-CN" sz="300" dirty="0" smtClean="0"/>
              <a:t>2</a:t>
            </a:r>
          </a:p>
          <a:p>
            <a:endParaRPr lang="en-US" altLang="zh-CN" sz="300" dirty="0" smtClean="0"/>
          </a:p>
          <a:p>
            <a:r>
              <a:rPr lang="en-US" altLang="zh-CN" sz="300" dirty="0" smtClean="0"/>
              <a:t>(4) </a:t>
            </a:r>
            <a:r>
              <a:rPr lang="en-US" altLang="zh-CN" sz="300" dirty="0" err="1" smtClean="0"/>
              <a:t>put_oob_en</a:t>
            </a:r>
            <a:r>
              <a:rPr lang="zh-CN" altLang="en-US" sz="300" dirty="0" smtClean="0"/>
              <a:t>下直跳循环</a:t>
            </a:r>
            <a:r>
              <a:rPr lang="en-US" altLang="zh-CN" sz="300" dirty="0" smtClean="0"/>
              <a:t>4</a:t>
            </a:r>
            <a:endParaRPr lang="en-US" altLang="zh-CN" sz="300" dirty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  <a:p>
            <a:endParaRPr lang="en-US" altLang="zh-CN" sz="300" dirty="0"/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r>
              <a:rPr lang="en-US" altLang="zh-CN" sz="300" dirty="0">
                <a:solidFill>
                  <a:srgbClr val="FF0000"/>
                </a:solidFill>
              </a:rPr>
              <a:t> </a:t>
            </a:r>
            <a:r>
              <a:rPr lang="en-US" altLang="zh-CN" sz="300" dirty="0" smtClean="0">
                <a:solidFill>
                  <a:srgbClr val="FF0000"/>
                </a:solidFill>
              </a:rPr>
              <a:t>      </a:t>
            </a:r>
          </a:p>
          <a:p>
            <a:endParaRPr lang="en-US" altLang="zh-CN" sz="300" dirty="0" smtClean="0"/>
          </a:p>
          <a:p>
            <a:endParaRPr lang="en-US" altLang="zh-CN" sz="300" dirty="0" smtClean="0"/>
          </a:p>
          <a:p>
            <a:endParaRPr lang="en-US" altLang="zh-CN" sz="300" dirty="0"/>
          </a:p>
        </p:txBody>
      </p:sp>
    </p:spTree>
    <p:extLst>
      <p:ext uri="{BB962C8B-B14F-4D97-AF65-F5344CB8AC3E}">
        <p14:creationId xmlns:p14="http://schemas.microsoft.com/office/powerpoint/2010/main" val="60530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38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11746</TotalTime>
  <Words>1173</Words>
  <Application>Microsoft Office PowerPoint</Application>
  <PresentationFormat>宽屏</PresentationFormat>
  <Paragraphs>342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宋体</vt:lpstr>
      <vt:lpstr>Arial</vt:lpstr>
      <vt:lpstr>Calibri</vt:lpstr>
      <vt:lpstr>Calibri Light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zhumingjie 02665</dc:creator>
  <cp:lastModifiedBy>zhumingjie 02665</cp:lastModifiedBy>
  <cp:revision>47</cp:revision>
  <dcterms:created xsi:type="dcterms:W3CDTF">2025-10-21T08:43:24Z</dcterms:created>
  <dcterms:modified xsi:type="dcterms:W3CDTF">2025-10-29T12:29:59Z</dcterms:modified>
</cp:coreProperties>
</file>